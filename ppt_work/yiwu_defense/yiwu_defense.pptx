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jpg"/><Relationship Id="rId3" Type="http://schemas.openxmlformats.org/officeDocument/2006/relationships/image" Target="../media/image4_2.png"/><Relationship Id="rId4" Type="http://schemas.openxmlformats.org/officeDocument/2006/relationships/image" Target="../media/image1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jpg"/><Relationship Id="rId3" Type="http://schemas.openxmlformats.org/officeDocument/2006/relationships/hyperlink" Target="https://commons.wikimedia.org/wiki/File:Qingming_Festival_2.jpg" TargetMode="External"/><Relationship Id="rId4" Type="http://schemas.openxmlformats.org/officeDocument/2006/relationships/hyperlink" Target="http://hrczh.cass.cn/lszg/lszg_sgwx/202502/t20250218_5847003.shtml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jpg"/><Relationship Id="rId3" Type="http://schemas.openxmlformats.org/officeDocument/2006/relationships/image" Target="../media/image6_2.jpg"/><Relationship Id="rId4" Type="http://schemas.openxmlformats.org/officeDocument/2006/relationships/hyperlink" Target="http://www.ce.cn/culture/gd/202009/09/t20200909_35704672.shtml" TargetMode="External"/><Relationship Id="rId5" Type="http://schemas.openxmlformats.org/officeDocument/2006/relationships/hyperlink" Target="https://www.chinanews.com.cn/cul/2014/10-10/6662411.shtml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3_1.png"/><Relationship Id="rId4" Type="http://schemas.openxmlformats.org/officeDocument/2006/relationships/image" Target="../media/image7_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8_2.png"/><Relationship Id="rId4" Type="http://schemas.openxmlformats.org/officeDocument/2006/relationships/image" Target="../media/image8_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4_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3.png"/><Relationship Id="rId3" Type="http://schemas.openxmlformats.org/officeDocument/2006/relationships/image" Target="../media/image10_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_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2.png"/><Relationship Id="rId3" Type="http://schemas.openxmlformats.org/officeDocument/2006/relationships/image" Target="../media/image12_2.png"/><Relationship Id="rId4" Type="http://schemas.openxmlformats.org/officeDocument/2006/relationships/image" Target="../media/image4_2.png"/><Relationship Id="rId5" Type="http://schemas.openxmlformats.org/officeDocument/2006/relationships/image" Target="../media/image12_4.png"/><Relationship Id="rId6" Type="http://schemas.openxmlformats.org/officeDocument/2006/relationships/image" Target="../media/image12_5.png"/><Relationship Id="rId7" Type="http://schemas.openxmlformats.org/officeDocument/2006/relationships/image" Target="../media/image12_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_1.png"/><Relationship Id="rId3" Type="http://schemas.openxmlformats.org/officeDocument/2006/relationships/image" Target="../media/image13_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_1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_1.jpg"/><Relationship Id="rId3" Type="http://schemas.openxmlformats.org/officeDocument/2006/relationships/image" Target="../media/image15_2.jpg"/><Relationship Id="rId4" Type="http://schemas.openxmlformats.org/officeDocument/2006/relationships/image" Target="../media/image15_3.jpg"/><Relationship Id="rId5" Type="http://schemas.openxmlformats.org/officeDocument/2006/relationships/image" Target="../media/image15_4.jpg"/><Relationship Id="rId6" Type="http://schemas.openxmlformats.org/officeDocument/2006/relationships/image" Target="../media/image15_5.jpg"/><Relationship Id="rId7" Type="http://schemas.openxmlformats.org/officeDocument/2006/relationships/image" Target="../media/image15_6.jpg"/><Relationship Id="rId8" Type="http://schemas.openxmlformats.org/officeDocument/2006/relationships/image" Target="../media/image15_7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_1.png"/><Relationship Id="rId3" Type="http://schemas.openxmlformats.org/officeDocument/2006/relationships/image" Target="../media/image16_2.png"/><Relationship Id="rId4" Type="http://schemas.openxmlformats.org/officeDocument/2006/relationships/image" Target="../media/image16_3.png"/><Relationship Id="rId5" Type="http://schemas.openxmlformats.org/officeDocument/2006/relationships/image" Target="../media/image16_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3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-band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A6412D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60400" y="5588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spc="170" kern="0">
                <a:solidFill>
                  <a:srgbClr val="6E6A61"/>
                </a:solidFill>
                <a:latin typeface="MiSans"/>
                <a:ea typeface="MiSans"/>
              </a:rPr>
              <a:t>THREE.JS  ·  IMMERSIVE WEB EXHIBITION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35000" y="1320800"/>
            <a:ext cx="6350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98000"/>
              </a:lnSpc>
            </a:pPr>
            <a:r>
              <a:rPr lang="en-US" sz="6400" noProof="1" b="1" spc="0" kern="0">
                <a:solidFill>
                  <a:srgbClr val="191A17"/>
                </a:solidFill>
                <a:latin typeface="MiSans"/>
                <a:ea typeface="MiSans"/>
              </a:rPr>
              <a:t>一日三市
义犹未尽</a:t>
            </a:r>
            <a:endParaRPr lang="en-US" sz="6400" noProof="1"/>
          </a:p>
        </p:txBody>
      </p:sp>
      <p:sp>
        <p:nvSpPr>
          <p:cNvPr id="5" name="sub"/>
          <p:cNvSpPr txBox="1"/>
          <p:nvPr/>
        </p:nvSpPr>
        <p:spPr>
          <a:xfrm>
            <a:off x="685800" y="4114800"/>
            <a:ext cx="482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 spc="0" kern="0">
                <a:solidFill>
                  <a:srgbClr val="A6412D"/>
                </a:solidFill>
                <a:latin typeface="MiSans"/>
                <a:ea typeface="MiSans"/>
              </a:rPr>
              <a:t>义乌三时市集 · 项目答辩</a:t>
            </a:r>
            <a:endParaRPr lang="en-US" sz="2000" noProof="1"/>
          </a:p>
        </p:txBody>
      </p:sp>
      <p:sp>
        <p:nvSpPr>
          <p:cNvPr id="6" name="cover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85800" y="4851400"/>
            <a:ext cx="35560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191A17"/>
            </a:solidFill>
          </a:ln>
        </p:spPr>
      </p:sp>
      <p:sp>
        <p:nvSpPr>
          <p:cNvPr id="7" name="desc"/>
          <p:cNvSpPr txBox="1"/>
          <p:nvPr/>
        </p:nvSpPr>
        <p:spPr>
          <a:xfrm>
            <a:off x="685800" y="5130800"/>
            <a:ext cx="495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700" noProof="1" spc="0" kern="0">
                <a:solidFill>
                  <a:srgbClr val="6E6A61"/>
                </a:solidFill>
                <a:latin typeface="MiSans"/>
                <a:ea typeface="MiSans"/>
              </a:rPr>
              <a:t>早市 / 午市 / 夜市
可进入、可漫游、可选购的国风三维市集</a:t>
            </a:r>
            <a:endParaRPr lang="en-US" sz="1700" noProof="1"/>
          </a:p>
        </p:txBody>
      </p:sp>
      <p:pic>
        <p:nvPicPr>
          <p:cNvPr id="8" name="hero"/>
          <p:cNvPicPr/>
          <p:nvPr/>
        </p:nvPicPr>
        <p:blipFill>
          <a:blip r:embed="rId2"/>
          <a:srcRect t="-28261" b="-28261"/>
          <a:stretch>
            <a:fillRect/>
          </a:stretch>
        </p:blipFill>
        <p:spPr>
          <a:xfrm>
            <a:off x="5969000" y="609600"/>
            <a:ext cx="5842000" cy="5715000"/>
          </a:xfrm>
          <a:prstGeom prst="rect">
            <a:avLst/>
          </a:prstGeom>
          <a:ln>
            <a:noFill/>
          </a:ln>
        </p:spPr>
      </p:pic>
      <p:sp>
        <p:nvSpPr>
          <p:cNvPr id="9" name="seal"/>
          <p:cNvSpPr txBox="1"/>
          <p:nvPr/>
        </p:nvSpPr>
        <p:spPr>
          <a:xfrm>
            <a:off x="10744200" y="57658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15000"/>
              </a:lnSpc>
            </a:pPr>
            <a:r>
              <a:rPr lang="en-US" sz="2800" noProof="1" b="1" spc="0" kern="0">
                <a:solidFill>
                  <a:srgbClr val="A6412D"/>
                </a:solidFill>
                <a:latin typeface="MiSans"/>
                <a:ea typeface="MiSans"/>
              </a:rPr>
              <a:t>义</a:t>
            </a:r>
            <a:endParaRPr lang="en-US" sz="2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a"/>
          <p:cNvSpPr txBox="1"/>
          <p:nvPr/>
        </p:nvSpPr>
        <p:spPr>
          <a:xfrm>
            <a:off x="609600" y="3048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150" kern="0">
                <a:solidFill>
                  <a:srgbClr val="6E6A61"/>
                </a:solidFill>
                <a:latin typeface="MiSans"/>
                <a:ea typeface="MiSans"/>
              </a:rPr>
              <a:t>02  /  命题理解</a:t>
            </a:r>
            <a:endParaRPr lang="en-US" sz="1000" noProof="1"/>
          </a:p>
        </p:txBody>
      </p:sp>
      <p:sp>
        <p:nvSpPr>
          <p:cNvPr id="3" name="brand"/>
          <p:cNvSpPr txBox="1"/>
          <p:nvPr/>
        </p:nvSpPr>
        <p:spPr>
          <a:xfrm>
            <a:off x="8763000" y="3048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000" noProof="1" spc="100" kern="0">
                <a:solidFill>
                  <a:srgbClr val="6E6A61"/>
                </a:solidFill>
                <a:latin typeface="MiSans"/>
                <a:ea typeface="MiSans"/>
              </a:rPr>
              <a:t>义犹未尽 · 义乌三时市集</a:t>
            </a:r>
            <a:endParaRPr lang="en-US" sz="10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1041400"/>
            <a:ext cx="58420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4800" noProof="1" b="1" spc="0" kern="0">
                <a:solidFill>
                  <a:srgbClr val="191A17"/>
                </a:solidFill>
                <a:latin typeface="MiSans"/>
                <a:ea typeface="MiSans"/>
              </a:rPr>
              <a:t>让小商品
进入国潮场景</a:t>
            </a:r>
            <a:endParaRPr lang="en-US" sz="4800" noProof="1"/>
          </a:p>
        </p:txBody>
      </p:sp>
      <p:sp>
        <p:nvSpPr>
          <p:cNvPr id="5" name="lead"/>
          <p:cNvSpPr txBox="1"/>
          <p:nvPr/>
        </p:nvSpPr>
        <p:spPr>
          <a:xfrm>
            <a:off x="660400" y="3073400"/>
            <a:ext cx="4953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2100" noProof="1" b="1" spc="0" kern="0">
                <a:solidFill>
                  <a:srgbClr val="A6412D"/>
                </a:solidFill>
                <a:latin typeface="MiSans"/>
                <a:ea typeface="MiSans"/>
              </a:rPr>
              <a:t>以线上三维展陈回应
「义乌小商品 ＋ 国潮文化」</a:t>
            </a:r>
            <a:endParaRPr lang="en-US" sz="2100" noProof="1"/>
          </a:p>
        </p:txBody>
      </p:sp>
      <p:sp>
        <p:nvSpPr>
          <p:cNvPr id="6" name="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4318000"/>
            <a:ext cx="44196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191A17"/>
            </a:solidFill>
          </a:ln>
        </p:spPr>
      </p:sp>
      <p:sp>
        <p:nvSpPr>
          <p:cNvPr id="7" name="v1"/>
          <p:cNvSpPr txBox="1"/>
          <p:nvPr/>
        </p:nvSpPr>
        <p:spPr>
          <a:xfrm>
            <a:off x="660400" y="47244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200" noProof="1" b="1" spc="0" kern="0">
                <a:solidFill>
                  <a:srgbClr val="191A17"/>
                </a:solidFill>
                <a:latin typeface="MiSans"/>
                <a:ea typeface="MiSans"/>
              </a:rPr>
              <a:t>空间叙事</a:t>
            </a:r>
            <a:endParaRPr lang="en-US" sz="2200" noProof="1"/>
          </a:p>
        </p:txBody>
      </p:sp>
      <p:sp>
        <p:nvSpPr>
          <p:cNvPr id="8" name="v2"/>
          <p:cNvSpPr txBox="1"/>
          <p:nvPr/>
        </p:nvSpPr>
        <p:spPr>
          <a:xfrm>
            <a:off x="2692400" y="51054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200" noProof="1" b="1" spc="0" kern="0">
                <a:solidFill>
                  <a:srgbClr val="191A17"/>
                </a:solidFill>
                <a:latin typeface="MiSans"/>
                <a:ea typeface="MiSans"/>
              </a:rPr>
              <a:t>互动体验</a:t>
            </a:r>
            <a:endParaRPr lang="en-US" sz="2200" noProof="1"/>
          </a:p>
        </p:txBody>
      </p:sp>
      <p:sp>
        <p:nvSpPr>
          <p:cNvPr id="9" name="v3"/>
          <p:cNvSpPr txBox="1"/>
          <p:nvPr/>
        </p:nvSpPr>
        <p:spPr>
          <a:xfrm>
            <a:off x="4724400" y="54864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200" noProof="1" b="1" spc="0" kern="0">
                <a:solidFill>
                  <a:srgbClr val="191A17"/>
                </a:solidFill>
                <a:latin typeface="MiSans"/>
                <a:ea typeface="MiSans"/>
              </a:rPr>
              <a:t>品牌传播</a:t>
            </a:r>
            <a:endParaRPr lang="en-US" sz="2200" noProof="1"/>
          </a:p>
        </p:txBody>
      </p:sp>
      <p:pic>
        <p:nvPicPr>
          <p:cNvPr id="10" name="brief"/>
          <p:cNvPicPr/>
          <p:nvPr/>
        </p:nvPicPr>
        <p:blipFill>
          <a:blip r:embed="rId2"/>
          <a:srcRect l="16452" r="16452"/>
          <a:stretch>
            <a:fillRect/>
          </a:stretch>
        </p:blipFill>
        <p:spPr>
          <a:xfrm>
            <a:off x="6959600" y="1041400"/>
            <a:ext cx="4622800" cy="4546600"/>
          </a:xfrm>
          <a:prstGeom prst="rect">
            <a:avLst/>
          </a:prstGeom>
          <a:ln>
            <a:noFill/>
          </a:ln>
        </p:spPr>
      </p:pic>
      <p:sp>
        <p:nvSpPr>
          <p:cNvPr id="11" name="brief-border"/>
          <p:cNvSpPr/>
          <p:nvPr/>
        </p:nvSpPr>
        <p:spPr>
          <a:xfrm>
            <a:off x="6959600" y="1041400"/>
            <a:ext cx="4622800" cy="4546600"/>
          </a:xfrm>
          <a:prstGeom prst="rect">
            <a:avLst/>
          </a:prstGeom>
          <a:noFill/>
          <a:ln w="12700">
            <a:solidFill>
              <a:srgbClr val="C8BFAF"/>
            </a:solidFill>
          </a:ln>
        </p:spPr>
      </p:sp>
      <p:sp>
        <p:nvSpPr>
          <p:cNvPr id="12" name="caption"/>
          <p:cNvSpPr txBox="1"/>
          <p:nvPr/>
        </p:nvSpPr>
        <p:spPr>
          <a:xfrm>
            <a:off x="6959600" y="5816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000" noProof="1" spc="0" kern="0">
                <a:solidFill>
                  <a:srgbClr val="6E6A61"/>
                </a:solidFill>
                <a:latin typeface="MiSans"/>
                <a:ea typeface="MiSans"/>
              </a:rPr>
              <a:t>大赛命题要求（用户提供）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a"/>
          <p:cNvSpPr txBox="1"/>
          <p:nvPr/>
        </p:nvSpPr>
        <p:spPr>
          <a:xfrm>
            <a:off x="609600" y="3048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150" kern="0">
                <a:solidFill>
                  <a:srgbClr val="6E6A61"/>
                </a:solidFill>
                <a:latin typeface="MiSans"/>
                <a:ea typeface="MiSans"/>
              </a:rPr>
              <a:t>03  /  作品概览</a:t>
            </a:r>
            <a:endParaRPr lang="en-US" sz="1000" noProof="1"/>
          </a:p>
        </p:txBody>
      </p:sp>
      <p:sp>
        <p:nvSpPr>
          <p:cNvPr id="3" name="brand"/>
          <p:cNvSpPr txBox="1"/>
          <p:nvPr/>
        </p:nvSpPr>
        <p:spPr>
          <a:xfrm>
            <a:off x="8763000" y="3048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000" noProof="1" spc="100" kern="0">
                <a:solidFill>
                  <a:srgbClr val="6E6A61"/>
                </a:solidFill>
                <a:latin typeface="MiSans"/>
                <a:ea typeface="MiSans"/>
              </a:rPr>
              <a:t>义犹未尽 · 义乌三时市集</a:t>
            </a:r>
            <a:endParaRPr lang="en-US" sz="1000" noProof="1"/>
          </a:p>
        </p:txBody>
      </p:sp>
      <p:sp>
        <p:nvSpPr>
          <p:cNvPr id="4" name="big"/>
          <p:cNvSpPr txBox="1"/>
          <p:nvPr/>
        </p:nvSpPr>
        <p:spPr>
          <a:xfrm>
            <a:off x="609600" y="787400"/>
            <a:ext cx="787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191A17"/>
                </a:solidFill>
                <a:latin typeface="MiSans"/>
                <a:ea typeface="MiSans"/>
              </a:rPr>
              <a:t>一座市集的一日生活</a:t>
            </a:r>
            <a:endParaRPr lang="en-US" sz="4400" noProof="1"/>
          </a:p>
        </p:txBody>
      </p:sp>
      <p:sp>
        <p:nvSpPr>
          <p:cNvPr id="5" name="statement"/>
          <p:cNvSpPr txBox="1"/>
          <p:nvPr/>
        </p:nvSpPr>
        <p:spPr>
          <a:xfrm>
            <a:off x="660400" y="1778000"/>
            <a:ext cx="4826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900" noProof="1" spc="0" kern="0">
                <a:solidFill>
                  <a:srgbClr val="6E6A61"/>
                </a:solidFill>
                <a:latin typeface="MiSans"/>
                <a:ea typeface="MiSans"/>
              </a:rPr>
              <a:t>以早市、午市、夜市为叙事结构，将义乌小商品融入三维国风市集。
通过角色漫游、摊位互动与商品观察，完成一次轻量的线上展陈。</a:t>
            </a:r>
            <a:endParaRPr lang="en-US" sz="1900" noProof="1"/>
          </a:p>
        </p:txBody>
      </p:sp>
      <p:sp>
        <p:nvSpPr>
          <p:cNvPr id="6" name="left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3403600"/>
            <a:ext cx="38100" cy="1955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A6412D"/>
            </a:solidFill>
          </a:ln>
        </p:spPr>
      </p:sp>
      <p:sp>
        <p:nvSpPr>
          <p:cNvPr id="7" name="tags"/>
          <p:cNvSpPr txBox="1"/>
          <p:nvPr/>
        </p:nvSpPr>
        <p:spPr>
          <a:xfrm>
            <a:off x="939800" y="3530600"/>
            <a:ext cx="2286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2600" noProof="1" b="1" spc="0" kern="0">
                <a:solidFill>
                  <a:srgbClr val="191A17"/>
                </a:solidFill>
                <a:latin typeface="MiSans"/>
                <a:ea typeface="MiSans"/>
              </a:rPr>
              <a:t>角色漫游
摊位互动
商品观察</a:t>
            </a:r>
            <a:endParaRPr lang="en-US" sz="2600" noProof="1"/>
          </a:p>
        </p:txBody>
      </p:sp>
      <p:pic>
        <p:nvPicPr>
          <p:cNvPr id="8" name="market"/>
          <p:cNvPicPr/>
          <p:nvPr/>
        </p:nvPicPr>
        <p:blipFill>
          <a:blip r:embed="rId2"/>
          <a:srcRect t="-3237" b="-3237"/>
          <a:stretch>
            <a:fillRect/>
          </a:stretch>
        </p:blipFill>
        <p:spPr>
          <a:xfrm>
            <a:off x="4724400" y="1549400"/>
            <a:ext cx="7061200" cy="4699000"/>
          </a:xfrm>
          <a:prstGeom prst="rect">
            <a:avLst/>
          </a:prstGeom>
          <a:ln>
            <a:noFill/>
          </a:ln>
        </p:spPr>
      </p:pic>
      <p:sp>
        <p:nvSpPr>
          <p:cNvPr id="9" name="num"/>
          <p:cNvSpPr txBox="1"/>
          <p:nvPr/>
        </p:nvSpPr>
        <p:spPr>
          <a:xfrm>
            <a:off x="9931400" y="5410200"/>
            <a:ext cx="1651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15000"/>
              </a:lnSpc>
            </a:pPr>
            <a:r>
              <a:rPr lang="en-US" sz="6400" noProof="1" b="1" spc="0" kern="0">
                <a:solidFill>
                  <a:srgbClr val="A6412D"/>
                </a:solidFill>
                <a:latin typeface="MiSans"/>
                <a:ea typeface="MiSans"/>
              </a:rPr>
              <a:t>03</a:t>
            </a:r>
            <a:endParaRPr lang="en-US" sz="64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a"/>
          <p:cNvSpPr txBox="1"/>
          <p:nvPr/>
        </p:nvSpPr>
        <p:spPr>
          <a:xfrm>
            <a:off x="609600" y="3048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150" kern="0">
                <a:solidFill>
                  <a:srgbClr val="6E6A61"/>
                </a:solidFill>
                <a:latin typeface="MiSans"/>
                <a:ea typeface="MiSans"/>
              </a:rPr>
              <a:t>04  /  核心概念</a:t>
            </a:r>
            <a:endParaRPr lang="en-US" sz="1000" noProof="1"/>
          </a:p>
        </p:txBody>
      </p:sp>
      <p:sp>
        <p:nvSpPr>
          <p:cNvPr id="3" name="brand"/>
          <p:cNvSpPr txBox="1"/>
          <p:nvPr/>
        </p:nvSpPr>
        <p:spPr>
          <a:xfrm>
            <a:off x="8763000" y="3048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000" noProof="1" spc="100" kern="0">
                <a:solidFill>
                  <a:srgbClr val="6E6A61"/>
                </a:solidFill>
                <a:latin typeface="MiSans"/>
                <a:ea typeface="MiSans"/>
              </a:rPr>
              <a:t>义犹未尽 · 义乌三时市集</a:t>
            </a:r>
            <a:endParaRPr lang="en-US" sz="10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787400"/>
            <a:ext cx="8128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191A17"/>
                </a:solidFill>
                <a:latin typeface="MiSans"/>
                <a:ea typeface="MiSans"/>
              </a:rPr>
              <a:t>三种元素，一次汇合</a:t>
            </a:r>
            <a:endParaRPr lang="en-US" sz="4400" noProof="1"/>
          </a:p>
        </p:txBody>
      </p:sp>
      <p:pic>
        <p:nvPicPr>
          <p:cNvPr id="5" name="ancient"/>
          <p:cNvPicPr/>
          <p:nvPr/>
        </p:nvPicPr>
        <p:blipFill>
          <a:blip r:embed="rId2"/>
          <a:srcRect l="21588" r="21588"/>
          <a:stretch>
            <a:fillRect/>
          </a:stretch>
        </p:blipFill>
        <p:spPr>
          <a:xfrm>
            <a:off x="609600" y="1905000"/>
            <a:ext cx="3556000" cy="1473200"/>
          </a:xfrm>
          <a:prstGeom prst="rect">
            <a:avLst/>
          </a:prstGeom>
          <a:ln>
            <a:noFill/>
          </a:ln>
        </p:spPr>
      </p:pic>
      <p:sp>
        <p:nvSpPr>
          <p:cNvPr id="6" name="ancient-t"/>
          <p:cNvSpPr txBox="1"/>
          <p:nvPr/>
        </p:nvSpPr>
        <p:spPr>
          <a:xfrm>
            <a:off x="609600" y="3632200"/>
            <a:ext cx="3556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3000" noProof="1" b="1" spc="0" kern="0">
                <a:solidFill>
                  <a:srgbClr val="191A17"/>
                </a:solidFill>
                <a:latin typeface="MiSans"/>
                <a:ea typeface="MiSans"/>
              </a:rPr>
              <a:t>古代市集</a:t>
            </a:r>
            <a:endParaRPr lang="en-US" sz="3000" noProof="1"/>
          </a:p>
        </p:txBody>
      </p:sp>
      <p:sp>
        <p:nvSpPr>
          <p:cNvPr id="7" name="ancient-s"/>
          <p:cNvSpPr txBox="1"/>
          <p:nvPr/>
        </p:nvSpPr>
        <p:spPr>
          <a:xfrm>
            <a:off x="609600" y="42418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spc="0" kern="0">
                <a:solidFill>
                  <a:srgbClr val="6E6A61"/>
                </a:solidFill>
                <a:latin typeface="MiSans"/>
                <a:ea typeface="MiSans"/>
              </a:rPr>
              <a:t>时间 / 街巷 / 日常</a:t>
            </a:r>
            <a:endParaRPr lang="en-US" sz="1500" noProof="1"/>
          </a:p>
        </p:txBody>
      </p:sp>
      <p:sp>
        <p:nvSpPr>
          <p:cNvPr id="8" name="x1"/>
          <p:cNvSpPr txBox="1"/>
          <p:nvPr/>
        </p:nvSpPr>
        <p:spPr>
          <a:xfrm>
            <a:off x="4292600" y="2794000"/>
            <a:ext cx="635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15000"/>
              </a:lnSpc>
            </a:pPr>
            <a:r>
              <a:rPr lang="en-US" sz="4400" noProof="1" b="1" spc="0" kern="0">
                <a:solidFill>
                  <a:srgbClr val="A6412D"/>
                </a:solidFill>
                <a:latin typeface="MiSans"/>
                <a:ea typeface="MiSans"/>
              </a:rPr>
              <a:t>×</a:t>
            </a:r>
            <a:endParaRPr lang="en-US" sz="4400" noProof="1"/>
          </a:p>
        </p:txBody>
      </p:sp>
      <p:pic>
        <p:nvPicPr>
          <p:cNvPr id="9" name="product"/>
          <p:cNvPicPr/>
          <p:nvPr/>
        </p:nvPicPr>
        <p:blipFill>
          <a:blip r:embed="rId3"/>
          <a:srcRect l="-8989" r="-8989"/>
          <a:stretch>
            <a:fillRect/>
          </a:stretch>
        </p:blipFill>
        <p:spPr>
          <a:xfrm>
            <a:off x="5016500" y="1676400"/>
            <a:ext cx="2667000" cy="2260600"/>
          </a:xfrm>
          <a:prstGeom prst="rect">
            <a:avLst/>
          </a:prstGeom>
          <a:ln>
            <a:noFill/>
          </a:ln>
        </p:spPr>
      </p:pic>
      <p:sp>
        <p:nvSpPr>
          <p:cNvPr id="10" name="product-t"/>
          <p:cNvSpPr txBox="1"/>
          <p:nvPr/>
        </p:nvSpPr>
        <p:spPr>
          <a:xfrm>
            <a:off x="5016500" y="3632200"/>
            <a:ext cx="2794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3000" noProof="1" b="1" spc="0" kern="0">
                <a:solidFill>
                  <a:srgbClr val="191A17"/>
                </a:solidFill>
                <a:latin typeface="MiSans"/>
                <a:ea typeface="MiSans"/>
              </a:rPr>
              <a:t>国潮商品</a:t>
            </a:r>
            <a:endParaRPr lang="en-US" sz="3000" noProof="1"/>
          </a:p>
        </p:txBody>
      </p:sp>
      <p:sp>
        <p:nvSpPr>
          <p:cNvPr id="11" name="product-s"/>
          <p:cNvSpPr txBox="1"/>
          <p:nvPr/>
        </p:nvSpPr>
        <p:spPr>
          <a:xfrm>
            <a:off x="5016500" y="42418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spc="0" kern="0">
                <a:solidFill>
                  <a:srgbClr val="6E6A61"/>
                </a:solidFill>
                <a:latin typeface="MiSans"/>
                <a:ea typeface="MiSans"/>
              </a:rPr>
              <a:t>可看 / 可转 / 可选</a:t>
            </a:r>
            <a:endParaRPr lang="en-US" sz="1500" noProof="1"/>
          </a:p>
        </p:txBody>
      </p:sp>
      <p:sp>
        <p:nvSpPr>
          <p:cNvPr id="12" name="x2"/>
          <p:cNvSpPr txBox="1"/>
          <p:nvPr/>
        </p:nvSpPr>
        <p:spPr>
          <a:xfrm>
            <a:off x="7823200" y="2794000"/>
            <a:ext cx="635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15000"/>
              </a:lnSpc>
            </a:pPr>
            <a:r>
              <a:rPr lang="en-US" sz="4400" noProof="1" b="1" spc="0" kern="0">
                <a:solidFill>
                  <a:srgbClr val="A6412D"/>
                </a:solidFill>
                <a:latin typeface="MiSans"/>
                <a:ea typeface="MiSans"/>
              </a:rPr>
              <a:t>×</a:t>
            </a:r>
            <a:endParaRPr lang="en-US" sz="4400" noProof="1"/>
          </a:p>
        </p:txBody>
      </p:sp>
      <p:pic>
        <p:nvPicPr>
          <p:cNvPr id="13" name="web"/>
          <p:cNvPicPr/>
          <p:nvPr/>
        </p:nvPicPr>
        <p:blipFill>
          <a:blip r:embed="rId4"/>
          <a:srcRect t="-7953" b="-7953"/>
          <a:stretch>
            <a:fillRect/>
          </a:stretch>
        </p:blipFill>
        <p:spPr>
          <a:xfrm>
            <a:off x="8356600" y="1600200"/>
            <a:ext cx="3225800" cy="2336800"/>
          </a:xfrm>
          <a:prstGeom prst="rect">
            <a:avLst/>
          </a:prstGeom>
          <a:ln>
            <a:noFill/>
          </a:ln>
        </p:spPr>
      </p:pic>
      <p:sp>
        <p:nvSpPr>
          <p:cNvPr id="14" name="web-t"/>
          <p:cNvSpPr txBox="1"/>
          <p:nvPr/>
        </p:nvSpPr>
        <p:spPr>
          <a:xfrm>
            <a:off x="8356600" y="3632200"/>
            <a:ext cx="3225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3000" noProof="1" b="1" spc="0" kern="0">
                <a:solidFill>
                  <a:srgbClr val="191A17"/>
                </a:solidFill>
                <a:latin typeface="MiSans"/>
                <a:ea typeface="MiSans"/>
              </a:rPr>
              <a:t>轻量网页</a:t>
            </a:r>
            <a:endParaRPr lang="en-US" sz="3000" noProof="1"/>
          </a:p>
        </p:txBody>
      </p:sp>
      <p:sp>
        <p:nvSpPr>
          <p:cNvPr id="15" name="web-s"/>
          <p:cNvSpPr txBox="1"/>
          <p:nvPr/>
        </p:nvSpPr>
        <p:spPr>
          <a:xfrm>
            <a:off x="8356600" y="4241800"/>
            <a:ext cx="3225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spc="0" kern="0">
                <a:solidFill>
                  <a:srgbClr val="6E6A61"/>
                </a:solidFill>
                <a:latin typeface="MiSans"/>
                <a:ea typeface="MiSans"/>
              </a:rPr>
              <a:t>易进入 / 易传播 / 易分享</a:t>
            </a:r>
            <a:endParaRPr lang="en-US" sz="1500" noProof="1"/>
          </a:p>
        </p:txBody>
      </p:sp>
      <p:sp>
        <p:nvSpPr>
          <p:cNvPr id="16" name="bottom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09600" y="51054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191A17"/>
            </a:solidFill>
          </a:ln>
        </p:spPr>
      </p:sp>
      <p:sp>
        <p:nvSpPr>
          <p:cNvPr id="17" name="bottom"/>
          <p:cNvSpPr txBox="1"/>
          <p:nvPr/>
        </p:nvSpPr>
        <p:spPr>
          <a:xfrm>
            <a:off x="609600" y="546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700" noProof="1" b="1" spc="0" kern="0">
                <a:solidFill>
                  <a:srgbClr val="A6412D"/>
                </a:solidFill>
                <a:latin typeface="MiSans"/>
                <a:ea typeface="MiSans"/>
              </a:rPr>
              <a:t>从观看一个场景，到进入一段市集日常。</a:t>
            </a:r>
            <a:endParaRPr lang="en-US" sz="27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oll"/>
          <p:cNvPicPr/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0" y="0"/>
            <a:ext cx="12192000" cy="2870200"/>
          </a:xfrm>
          <a:prstGeom prst="rect">
            <a:avLst/>
          </a:prstGeom>
          <a:ln>
            <a:noFill/>
          </a:ln>
        </p:spPr>
      </p:pic>
      <p:sp>
        <p:nvSpPr>
          <p:cNvPr id="3" name="paper-block"/>
          <p:cNvSpPr/>
          <p:nvPr/>
        </p:nvSpPr>
        <p:spPr>
          <a:xfrm>
            <a:off x="0" y="2870200"/>
            <a:ext cx="12192000" cy="3987800"/>
          </a:xfrm>
          <a:prstGeom prst="rect">
            <a:avLst/>
          </a:prstGeom>
          <a:solidFill>
            <a:srgbClr val="F4F0E6"/>
          </a:solidFill>
          <a:ln>
            <a:noFill/>
          </a:ln>
        </p:spPr>
      </p:sp>
      <p:sp>
        <p:nvSpPr>
          <p:cNvPr id="4" name="num"/>
          <p:cNvSpPr txBox="1"/>
          <p:nvPr/>
        </p:nvSpPr>
        <p:spPr>
          <a:xfrm>
            <a:off x="609600" y="3175000"/>
            <a:ext cx="1193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A6412D"/>
                </a:solidFill>
                <a:latin typeface="MiSans"/>
                <a:ea typeface="MiSans"/>
              </a:rPr>
              <a:t>01</a:t>
            </a:r>
            <a:endParaRPr lang="en-US" sz="4400" noProof="1"/>
          </a:p>
        </p:txBody>
      </p:sp>
      <p:sp>
        <p:nvSpPr>
          <p:cNvPr id="5" name="title"/>
          <p:cNvSpPr txBox="1"/>
          <p:nvPr/>
        </p:nvSpPr>
        <p:spPr>
          <a:xfrm>
            <a:off x="1828800" y="3175000"/>
            <a:ext cx="8255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191A17"/>
                </a:solidFill>
                <a:latin typeface="MiSans"/>
                <a:ea typeface="MiSans"/>
              </a:rPr>
              <a:t>从长卷，走进市井</a:t>
            </a:r>
            <a:endParaRPr lang="en-US" sz="4400" noProof="1"/>
          </a:p>
        </p:txBody>
      </p:sp>
      <p:sp>
        <p:nvSpPr>
          <p:cNvPr id="6" name="keys"/>
          <p:cNvSpPr txBox="1"/>
          <p:nvPr/>
        </p:nvSpPr>
        <p:spPr>
          <a:xfrm>
            <a:off x="660400" y="4318000"/>
            <a:ext cx="30480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2900" noProof="1" b="1" spc="0" kern="0">
                <a:solidFill>
                  <a:srgbClr val="191A17"/>
                </a:solidFill>
                <a:latin typeface="MiSans"/>
                <a:ea typeface="MiSans"/>
              </a:rPr>
              <a:t>散点透视
连环叙事
摊贩日常</a:t>
            </a:r>
            <a:endParaRPr lang="en-US" sz="2900" noProof="1"/>
          </a:p>
        </p:txBody>
      </p:sp>
      <p:sp>
        <p:nvSpPr>
          <p:cNvPr id="7" name="v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4191000" y="4343400"/>
            <a:ext cx="25400" cy="15240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38100">
            <a:solidFill>
              <a:srgbClr val="A6412D"/>
            </a:solidFill>
          </a:ln>
        </p:spPr>
      </p:sp>
      <p:sp>
        <p:nvSpPr>
          <p:cNvPr id="8" name="body"/>
          <p:cNvSpPr txBox="1"/>
          <p:nvPr/>
        </p:nvSpPr>
        <p:spPr>
          <a:xfrm>
            <a:off x="4622800" y="4318000"/>
            <a:ext cx="63500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800" noProof="1" spc="0" kern="0">
                <a:solidFill>
                  <a:srgbClr val="6E6A61"/>
                </a:solidFill>
                <a:latin typeface="MiSans"/>
                <a:ea typeface="MiSans"/>
              </a:rPr>
              <a:t>《清明上河图》以长卷组织城市生活；
《东京梦华录》写下早市与夜市的接续。
本项目提取「时间换场、沿街展开、停留看物」。</a:t>
            </a:r>
            <a:endParaRPr lang="en-US" sz="1800" noProof="1"/>
          </a:p>
        </p:txBody>
      </p:sp>
      <p:sp>
        <p:nvSpPr>
          <p:cNvPr id="9" name="source"/>
          <p:cNvSpPr txBox="1"/>
          <p:nvPr/>
        </p:nvSpPr>
        <p:spPr>
          <a:xfrm>
            <a:off x="609600" y="6350000"/>
            <a:ext cx="1092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900" noProof="1" spc="0" kern="0">
                <a:solidFill>
                  <a:srgbClr val="6E6A61"/>
                </a:solidFill>
                <a:latin typeface="MiSans"/>
                <a:ea typeface="MiSans"/>
              </a:rPr>
              <a:t>图像：</a:t>
            </a:r>
            <a:r>
              <a:rPr lang="en-US" sz="900" noProof="1" u="sng" spc="0" kern="0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张择端《清明上河图》局部（公有领域）</a:t>
            </a:r>
            <a:r>
              <a:rPr lang="en-US" sz="900" noProof="1" spc="0" kern="0">
                <a:solidFill>
                  <a:srgbClr val="6E6A61"/>
                </a:solidFill>
                <a:latin typeface="MiSans"/>
                <a:ea typeface="MiSans"/>
              </a:rPr>
              <a:t>；文字参考：</a:t>
            </a:r>
            <a:r>
              <a:rPr lang="en-US" sz="900" noProof="1" u="sng" spc="0" kern="0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中国社科院《宋代的桥市》</a:t>
            </a:r>
            <a:r>
              <a:rPr lang="en-US" sz="900" noProof="1" spc="0" kern="0">
                <a:solidFill>
                  <a:srgbClr val="6E6A61"/>
                </a:solidFill>
                <a:latin typeface="MiSans"/>
                <a:ea typeface="MiSans"/>
              </a:rPr>
              <a:t>。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a"/>
          <p:cNvSpPr txBox="1"/>
          <p:nvPr/>
        </p:nvSpPr>
        <p:spPr>
          <a:xfrm>
            <a:off x="609600" y="3048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150" kern="0">
                <a:solidFill>
                  <a:srgbClr val="6E6A61"/>
                </a:solidFill>
                <a:latin typeface="MiSans"/>
                <a:ea typeface="MiSans"/>
              </a:rPr>
              <a:t>06  /  设计灵感</a:t>
            </a:r>
            <a:endParaRPr lang="en-US" sz="1000" noProof="1"/>
          </a:p>
        </p:txBody>
      </p:sp>
      <p:sp>
        <p:nvSpPr>
          <p:cNvPr id="3" name="brand"/>
          <p:cNvSpPr txBox="1"/>
          <p:nvPr/>
        </p:nvSpPr>
        <p:spPr>
          <a:xfrm>
            <a:off x="8763000" y="3048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000" noProof="1" spc="100" kern="0">
                <a:solidFill>
                  <a:srgbClr val="6E6A61"/>
                </a:solidFill>
                <a:latin typeface="MiSans"/>
                <a:ea typeface="MiSans"/>
              </a:rPr>
              <a:t>义犹未尽 · 义乌三时市集</a:t>
            </a:r>
            <a:endParaRPr lang="en-US" sz="10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12800"/>
            <a:ext cx="7112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191A17"/>
                </a:solidFill>
                <a:latin typeface="MiSans"/>
                <a:ea typeface="MiSans"/>
              </a:rPr>
              <a:t>古画构图，现代上色</a:t>
            </a:r>
            <a:endParaRPr lang="en-US" sz="4400" noProof="1"/>
          </a:p>
        </p:txBody>
      </p:sp>
      <p:pic>
        <p:nvPicPr>
          <p:cNvPr id="5" name="game"/>
          <p:cNvPicPr/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609600" y="1879600"/>
            <a:ext cx="6604000" cy="3708400"/>
          </a:xfrm>
          <a:prstGeom prst="rect">
            <a:avLst/>
          </a:prstGeom>
          <a:ln>
            <a:noFill/>
          </a:ln>
        </p:spPr>
      </p:pic>
      <p:sp>
        <p:nvSpPr>
          <p:cNvPr id="6" name="game-cap"/>
          <p:cNvSpPr txBox="1"/>
          <p:nvPr/>
        </p:nvSpPr>
        <p:spPr>
          <a:xfrm>
            <a:off x="609600" y="57150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0" kern="0">
                <a:solidFill>
                  <a:srgbClr val="6E6A61"/>
                </a:solidFill>
                <a:latin typeface="MiSans"/>
                <a:ea typeface="MiSans"/>
              </a:rPr>
              <a:t>《江南百景图》游戏画面（灵感参考）</a:t>
            </a:r>
            <a:endParaRPr lang="en-US" sz="1000" noProof="1"/>
          </a:p>
        </p:txBody>
      </p:sp>
      <p:pic>
        <p:nvPicPr>
          <p:cNvPr id="7" name="gusu"/>
          <p:cNvPicPr/>
          <p:nvPr/>
        </p:nvPicPr>
        <p:blipFill>
          <a:blip r:embed="rId3"/>
          <a:srcRect t="62" b="62"/>
          <a:stretch>
            <a:fillRect/>
          </a:stretch>
        </p:blipFill>
        <p:spPr>
          <a:xfrm>
            <a:off x="7924800" y="1066800"/>
            <a:ext cx="3657600" cy="1625600"/>
          </a:xfrm>
          <a:prstGeom prst="rect">
            <a:avLst/>
          </a:prstGeom>
          <a:ln>
            <a:noFill/>
          </a:ln>
        </p:spPr>
      </p:pic>
      <p:sp>
        <p:nvSpPr>
          <p:cNvPr id="8" name="gusu-cap"/>
          <p:cNvSpPr txBox="1"/>
          <p:nvPr/>
        </p:nvSpPr>
        <p:spPr>
          <a:xfrm>
            <a:off x="7924800" y="27940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0" kern="0">
                <a:solidFill>
                  <a:srgbClr val="6E6A61"/>
                </a:solidFill>
                <a:latin typeface="MiSans"/>
                <a:ea typeface="MiSans"/>
              </a:rPr>
              <a:t>《姑苏繁华图》局部</a:t>
            </a:r>
            <a:endParaRPr lang="en-US" sz="1000" noProof="1"/>
          </a:p>
        </p:txBody>
      </p:sp>
      <p:sp>
        <p:nvSpPr>
          <p:cNvPr id="9" name="words"/>
          <p:cNvSpPr txBox="1"/>
          <p:nvPr/>
        </p:nvSpPr>
        <p:spPr>
          <a:xfrm>
            <a:off x="7924800" y="3352800"/>
            <a:ext cx="36576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2000"/>
              </a:lnSpc>
            </a:pPr>
            <a:r>
              <a:rPr lang="en-US" sz="2900" noProof="1" b="1" spc="0" kern="0">
                <a:solidFill>
                  <a:srgbClr val="A6412D"/>
                </a:solidFill>
                <a:latin typeface="MiSans"/>
                <a:ea typeface="MiSans"/>
              </a:rPr>
              <a:t>清逸色彩
微缩街巷
人物日常</a:t>
            </a:r>
            <a:endParaRPr lang="en-US" sz="2900" noProof="1"/>
          </a:p>
        </p:txBody>
      </p:sp>
      <p:sp>
        <p:nvSpPr>
          <p:cNvPr id="10" name="right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924800" y="5283200"/>
            <a:ext cx="30480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191A17"/>
            </a:solidFill>
          </a:ln>
        </p:spPr>
      </p:sp>
      <p:sp>
        <p:nvSpPr>
          <p:cNvPr id="11" name="body"/>
          <p:cNvSpPr txBox="1"/>
          <p:nvPr/>
        </p:nvSpPr>
        <p:spPr>
          <a:xfrm>
            <a:off x="7924800" y="5562600"/>
            <a:ext cx="3657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500" noProof="1" spc="0" kern="0">
                <a:solidFill>
                  <a:srgbClr val="6E6A61"/>
                </a:solidFill>
                <a:latin typeface="MiSans"/>
                <a:ea typeface="MiSans"/>
              </a:rPr>
              <a:t>参考其“古画构图＋现代色彩”的方法，
进一步转为可漫游的三维市集。</a:t>
            </a:r>
            <a:endParaRPr lang="en-US" sz="1500" noProof="1"/>
          </a:p>
        </p:txBody>
      </p:sp>
      <p:sp>
        <p:nvSpPr>
          <p:cNvPr id="12" name="source"/>
          <p:cNvSpPr txBox="1"/>
          <p:nvPr/>
        </p:nvSpPr>
        <p:spPr>
          <a:xfrm>
            <a:off x="609600" y="6426200"/>
            <a:ext cx="1066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900" noProof="1" spc="0" kern="0">
                <a:solidFill>
                  <a:srgbClr val="6E6A61"/>
                </a:solidFill>
                <a:latin typeface="MiSans"/>
                <a:ea typeface="MiSans"/>
              </a:rPr>
              <a:t>资料：</a:t>
            </a:r>
            <a:r>
              <a:rPr lang="en-US" sz="900" noProof="1" u="sng" spc="0" kern="0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中国经济网《手机游戏的文化传播》</a:t>
            </a:r>
            <a:r>
              <a:rPr lang="en-US" sz="900" noProof="1" spc="0" kern="0">
                <a:solidFill>
                  <a:srgbClr val="6E6A61"/>
                </a:solidFill>
                <a:latin typeface="MiSans"/>
                <a:ea typeface="MiSans"/>
              </a:rPr>
              <a:t>；</a:t>
            </a:r>
            <a:r>
              <a:rPr lang="en-US" sz="900" noProof="1" u="sng" spc="0" kern="0">
                <a:solidFill>
                  <a:srgbClr val="0563C1"/>
                </a:solidFill>
                <a:latin typeface="MiSans"/>
                <a:ea typeface="MiSans"/>
                <a:hlinkClick r:id="rId5"/>
              </a:rPr>
              <a:t>中新网《姑苏繁华图》</a:t>
            </a:r>
            <a:r>
              <a:rPr lang="en-US" sz="900" noProof="1" spc="0" kern="0">
                <a:solidFill>
                  <a:srgbClr val="6E6A61"/>
                </a:solidFill>
                <a:latin typeface="MiSans"/>
                <a:ea typeface="MiSans"/>
              </a:rPr>
              <a:t>。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a"/>
          <p:cNvSpPr txBox="1"/>
          <p:nvPr/>
        </p:nvSpPr>
        <p:spPr>
          <a:xfrm>
            <a:off x="609600" y="3048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150" kern="0">
                <a:solidFill>
                  <a:srgbClr val="6E6A61"/>
                </a:solidFill>
                <a:latin typeface="MiSans"/>
                <a:ea typeface="MiSans"/>
              </a:rPr>
              <a:t>07  /  总体布局</a:t>
            </a:r>
            <a:endParaRPr lang="en-US" sz="1000" noProof="1"/>
          </a:p>
        </p:txBody>
      </p:sp>
      <p:sp>
        <p:nvSpPr>
          <p:cNvPr id="3" name="brand"/>
          <p:cNvSpPr txBox="1"/>
          <p:nvPr/>
        </p:nvSpPr>
        <p:spPr>
          <a:xfrm>
            <a:off x="8763000" y="3048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000" noProof="1" spc="100" kern="0">
                <a:solidFill>
                  <a:srgbClr val="6E6A61"/>
                </a:solidFill>
                <a:latin typeface="MiSans"/>
                <a:ea typeface="MiSans"/>
              </a:rPr>
              <a:t>义犹未尽 · 义乌三时市集</a:t>
            </a:r>
            <a:endParaRPr lang="en-US" sz="10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736600"/>
            <a:ext cx="8636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191A17"/>
                </a:solidFill>
                <a:latin typeface="MiSans"/>
                <a:ea typeface="MiSans"/>
              </a:rPr>
              <a:t>三个时间，三种市声</a:t>
            </a:r>
            <a:endParaRPr lang="en-US" sz="4400" noProof="1"/>
          </a:p>
        </p:txBody>
      </p:sp>
      <p:sp>
        <p:nvSpPr>
          <p:cNvPr id="5" name="stats"/>
          <p:cNvSpPr txBox="1"/>
          <p:nvPr/>
        </p:nvSpPr>
        <p:spPr>
          <a:xfrm>
            <a:off x="635000" y="15748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800" noProof="1" b="1" spc="0" kern="0">
                <a:solidFill>
                  <a:srgbClr val="A6412D"/>
                </a:solidFill>
                <a:latin typeface="MiSans"/>
                <a:ea typeface="MiSans"/>
              </a:rPr>
              <a:t>3 个场景   ·   9 个摊位   ·   13 件商品</a:t>
            </a:r>
            <a:endParaRPr lang="en-US" sz="1800" noProof="1"/>
          </a:p>
        </p:txBody>
      </p:sp>
      <p:sp>
        <p:nvSpPr>
          <p:cNvPr id="6" name="time-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838200" y="4318000"/>
            <a:ext cx="103632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C8BFAF"/>
            </a:solidFill>
          </a:ln>
        </p:spPr>
      </p:sp>
      <p:pic>
        <p:nvPicPr>
          <p:cNvPr id="7" name="morning"/>
          <p:cNvPicPr/>
          <p:nvPr/>
        </p:nvPicPr>
        <p:blipFill>
          <a:blip r:embed="rId2"/>
          <a:srcRect t="-9868" b="-9868"/>
          <a:stretch>
            <a:fillRect/>
          </a:stretch>
        </p:blipFill>
        <p:spPr>
          <a:xfrm>
            <a:off x="355600" y="2159000"/>
            <a:ext cx="3835400" cy="2870200"/>
          </a:xfrm>
          <a:prstGeom prst="rect">
            <a:avLst/>
          </a:prstGeom>
          <a:ln>
            <a:noFill/>
          </a:ln>
        </p:spPr>
      </p:pic>
      <p:pic>
        <p:nvPicPr>
          <p:cNvPr id="8" name="noon"/>
          <p:cNvPicPr/>
          <p:nvPr/>
        </p:nvPicPr>
        <p:blipFill>
          <a:blip r:embed="rId3"/>
          <a:srcRect t="-9747" b="-9747"/>
          <a:stretch>
            <a:fillRect/>
          </a:stretch>
        </p:blipFill>
        <p:spPr>
          <a:xfrm>
            <a:off x="4165600" y="2006600"/>
            <a:ext cx="4013200" cy="2997200"/>
          </a:xfrm>
          <a:prstGeom prst="rect">
            <a:avLst/>
          </a:prstGeom>
          <a:ln>
            <a:noFill/>
          </a:ln>
        </p:spPr>
      </p:pic>
      <p:pic>
        <p:nvPicPr>
          <p:cNvPr id="9" name="night"/>
          <p:cNvPicPr/>
          <p:nvPr/>
        </p:nvPicPr>
        <p:blipFill>
          <a:blip r:embed="rId4"/>
          <a:srcRect t="-14113" b="-14113"/>
          <a:stretch>
            <a:fillRect/>
          </a:stretch>
        </p:blipFill>
        <p:spPr>
          <a:xfrm>
            <a:off x="8305800" y="2159000"/>
            <a:ext cx="3581400" cy="2870200"/>
          </a:xfrm>
          <a:prstGeom prst="rect">
            <a:avLst/>
          </a:prstGeom>
          <a:ln>
            <a:noFill/>
          </a:ln>
        </p:spPr>
      </p:pic>
      <p:sp>
        <p:nvSpPr>
          <p:cNvPr id="10" name="m"/>
          <p:cNvSpPr txBox="1"/>
          <p:nvPr/>
        </p:nvSpPr>
        <p:spPr>
          <a:xfrm>
            <a:off x="660400" y="51562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600" noProof="1" b="1" spc="0" kern="0">
                <a:solidFill>
                  <a:srgbClr val="191A17"/>
                </a:solidFill>
                <a:latin typeface="MiSans"/>
                <a:ea typeface="MiSans"/>
              </a:rPr>
              <a:t>早市 · 卯时</a:t>
            </a:r>
            <a:endParaRPr lang="en-US" sz="2600" noProof="1"/>
          </a:p>
        </p:txBody>
      </p:sp>
      <p:sp>
        <p:nvSpPr>
          <p:cNvPr id="11" name="n"/>
          <p:cNvSpPr txBox="1"/>
          <p:nvPr/>
        </p:nvSpPr>
        <p:spPr>
          <a:xfrm>
            <a:off x="4521200" y="51562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600" noProof="1" b="1" spc="0" kern="0">
                <a:solidFill>
                  <a:srgbClr val="191A17"/>
                </a:solidFill>
                <a:latin typeface="MiSans"/>
                <a:ea typeface="MiSans"/>
              </a:rPr>
              <a:t>午市 · 午时</a:t>
            </a:r>
            <a:endParaRPr lang="en-US" sz="2600" noProof="1"/>
          </a:p>
        </p:txBody>
      </p:sp>
      <p:sp>
        <p:nvSpPr>
          <p:cNvPr id="12" name="ng"/>
          <p:cNvSpPr txBox="1"/>
          <p:nvPr/>
        </p:nvSpPr>
        <p:spPr>
          <a:xfrm>
            <a:off x="8610600" y="5156200"/>
            <a:ext cx="292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600" noProof="1" b="1" spc="0" kern="0">
                <a:solidFill>
                  <a:srgbClr val="191A17"/>
                </a:solidFill>
                <a:latin typeface="MiSans"/>
                <a:ea typeface="MiSans"/>
              </a:rPr>
              <a:t>夜市 · 戌时</a:t>
            </a:r>
            <a:endParaRPr lang="en-US" sz="2600" noProof="1"/>
          </a:p>
        </p:txBody>
      </p:sp>
      <p:sp>
        <p:nvSpPr>
          <p:cNvPr id="13" name="m-s"/>
          <p:cNvSpPr txBox="1"/>
          <p:nvPr/>
        </p:nvSpPr>
        <p:spPr>
          <a:xfrm>
            <a:off x="660400" y="5715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 spc="0" kern="0">
                <a:solidFill>
                  <a:srgbClr val="6E6A61"/>
                </a:solidFill>
                <a:latin typeface="MiSans"/>
                <a:ea typeface="MiSans"/>
              </a:rPr>
              <a:t>蒸汽先醒</a:t>
            </a:r>
            <a:endParaRPr lang="en-US" sz="1600" noProof="1"/>
          </a:p>
        </p:txBody>
      </p:sp>
      <p:sp>
        <p:nvSpPr>
          <p:cNvPr id="14" name="n-s"/>
          <p:cNvSpPr txBox="1"/>
          <p:nvPr/>
        </p:nvSpPr>
        <p:spPr>
          <a:xfrm>
            <a:off x="4521200" y="5715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 spc="0" kern="0">
                <a:solidFill>
                  <a:srgbClr val="6E6A61"/>
                </a:solidFill>
                <a:latin typeface="MiSans"/>
                <a:ea typeface="MiSans"/>
              </a:rPr>
              <a:t>市声最盛</a:t>
            </a:r>
            <a:endParaRPr lang="en-US" sz="1600" noProof="1"/>
          </a:p>
        </p:txBody>
      </p:sp>
      <p:sp>
        <p:nvSpPr>
          <p:cNvPr id="15" name="ng-s"/>
          <p:cNvSpPr txBox="1"/>
          <p:nvPr/>
        </p:nvSpPr>
        <p:spPr>
          <a:xfrm>
            <a:off x="8610600" y="5715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 spc="0" kern="0">
                <a:solidFill>
                  <a:srgbClr val="6E6A61"/>
                </a:solidFill>
                <a:latin typeface="MiSans"/>
                <a:ea typeface="MiSans"/>
              </a:rPr>
              <a:t>灯火初上</a:t>
            </a:r>
            <a:endParaRPr lang="en-US" sz="16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FE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5D4"/>
          </a:solidFill>
          <a:ln>
            <a:noFill/>
          </a:ln>
        </p:spPr>
      </p:sp>
      <p:sp>
        <p:nvSpPr>
          <p:cNvPr id="3" name="glyph"/>
          <p:cNvSpPr txBox="1"/>
          <p:nvPr/>
        </p:nvSpPr>
        <p:spPr>
          <a:xfrm>
            <a:off x="609600" y="508000"/>
            <a:ext cx="3175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4200" noProof="1" b="1" spc="0" kern="0">
                <a:solidFill>
                  <a:srgbClr val="A6412D"/>
                </a:solidFill>
                <a:latin typeface="MiSans"/>
                <a:ea typeface="MiSans"/>
              </a:rPr>
              <a:t>早</a:t>
            </a:r>
            <a:endParaRPr lang="en-US" sz="14200" noProof="1"/>
          </a:p>
        </p:txBody>
      </p:sp>
      <p:sp>
        <p:nvSpPr>
          <p:cNvPr id="4" name="hour"/>
          <p:cNvSpPr txBox="1"/>
          <p:nvPr/>
        </p:nvSpPr>
        <p:spPr>
          <a:xfrm>
            <a:off x="736600" y="29464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 b="1" spc="120" kern="0">
                <a:solidFill>
                  <a:srgbClr val="6E6A61"/>
                </a:solidFill>
                <a:latin typeface="MiSans"/>
                <a:ea typeface="MiSans"/>
              </a:rPr>
              <a:t>卯时 / MORNING</a:t>
            </a:r>
            <a:endParaRPr lang="en-US" sz="1600" noProof="1"/>
          </a:p>
        </p:txBody>
      </p:sp>
      <p:sp>
        <p:nvSpPr>
          <p:cNvPr id="5" name="title"/>
          <p:cNvSpPr txBox="1"/>
          <p:nvPr/>
        </p:nvSpPr>
        <p:spPr>
          <a:xfrm>
            <a:off x="660400" y="3708400"/>
            <a:ext cx="45720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191A17"/>
                </a:solidFill>
                <a:latin typeface="MiSans"/>
                <a:ea typeface="MiSans"/>
              </a:rPr>
              <a:t>天光初开
蒸汽先醒</a:t>
            </a:r>
            <a:endParaRPr lang="en-US" sz="4400" noProof="1"/>
          </a:p>
        </p:txBody>
      </p:sp>
      <p:sp>
        <p:nvSpPr>
          <p:cNvPr id="6" name="shops"/>
          <p:cNvSpPr txBox="1"/>
          <p:nvPr/>
        </p:nvSpPr>
        <p:spPr>
          <a:xfrm>
            <a:off x="685800" y="55880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 spc="0" kern="0">
                <a:solidFill>
                  <a:srgbClr val="6E6A61"/>
                </a:solidFill>
                <a:latin typeface="MiSans"/>
                <a:ea typeface="MiSans"/>
              </a:rPr>
              <a:t>茶水摊  ·  木铃摊  ·  早餐摊</a:t>
            </a:r>
            <a:endParaRPr lang="en-US" sz="1700" noProof="1"/>
          </a:p>
        </p:txBody>
      </p:sp>
      <p:pic>
        <p:nvPicPr>
          <p:cNvPr id="7" name="market"/>
          <p:cNvPicPr/>
          <p:nvPr/>
        </p:nvPicPr>
        <p:blipFill>
          <a:blip r:embed="rId2"/>
          <a:srcRect t="-9310" b="-9310"/>
          <a:stretch>
            <a:fillRect/>
          </a:stretch>
        </p:blipFill>
        <p:spPr>
          <a:xfrm>
            <a:off x="4445000" y="609600"/>
            <a:ext cx="7366000" cy="5461000"/>
          </a:xfrm>
          <a:prstGeom prst="rect">
            <a:avLst/>
          </a:prstGeom>
          <a:ln>
            <a:noFill/>
          </a:ln>
        </p:spPr>
      </p:pic>
      <p:pic>
        <p:nvPicPr>
          <p:cNvPr id="8" name="p1"/>
          <p:cNvPicPr/>
          <p:nvPr/>
        </p:nvPicPr>
        <p:blipFill>
          <a:blip r:embed="rId3"/>
          <a:srcRect t="-8140" b="-8140"/>
          <a:stretch>
            <a:fillRect/>
          </a:stretch>
        </p:blipFill>
        <p:spPr>
          <a:xfrm>
            <a:off x="9042400" y="4495800"/>
            <a:ext cx="1092200" cy="1270000"/>
          </a:xfrm>
          <a:prstGeom prst="rect">
            <a:avLst/>
          </a:prstGeom>
          <a:ln>
            <a:noFill/>
          </a:ln>
        </p:spPr>
      </p:pic>
      <p:pic>
        <p:nvPicPr>
          <p:cNvPr id="9" name="p2"/>
          <p:cNvPicPr/>
          <p:nvPr/>
        </p:nvPicPr>
        <p:blipFill>
          <a:blip r:embed="rId4"/>
          <a:srcRect t="-28571" b="-28571"/>
          <a:stretch>
            <a:fillRect/>
          </a:stretch>
        </p:blipFill>
        <p:spPr>
          <a:xfrm>
            <a:off x="10210800" y="4394200"/>
            <a:ext cx="889000" cy="1397000"/>
          </a:xfrm>
          <a:prstGeom prst="rect">
            <a:avLst/>
          </a:prstGeom>
          <a:ln>
            <a:noFill/>
          </a:ln>
        </p:spPr>
      </p:pic>
      <p:sp>
        <p:nvSpPr>
          <p:cNvPr id="10" name="num"/>
          <p:cNvSpPr txBox="1"/>
          <p:nvPr/>
        </p:nvSpPr>
        <p:spPr>
          <a:xfrm>
            <a:off x="11023600" y="330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200" noProof="1" spc="0" kern="0">
                <a:solidFill>
                  <a:srgbClr val="6E6A61"/>
                </a:solidFill>
                <a:latin typeface="MiSans"/>
                <a:ea typeface="MiSans"/>
              </a:rPr>
              <a:t>08</a:t>
            </a:r>
            <a:endParaRPr lang="en-US" sz="12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7D1"/>
          </a:solidFill>
          <a:ln>
            <a:noFill/>
          </a:ln>
        </p:spPr>
      </p:sp>
      <p:pic>
        <p:nvPicPr>
          <p:cNvPr id="3" name="market"/>
          <p:cNvPicPr/>
          <p:nvPr/>
        </p:nvPicPr>
        <p:blipFill>
          <a:blip r:embed="rId2"/>
          <a:srcRect t="-9034" b="-9034"/>
          <a:stretch>
            <a:fillRect/>
          </a:stretch>
        </p:blipFill>
        <p:spPr>
          <a:xfrm>
            <a:off x="355600" y="508000"/>
            <a:ext cx="7366000" cy="5435600"/>
          </a:xfrm>
          <a:prstGeom prst="rect">
            <a:avLst/>
          </a:prstGeom>
          <a:ln>
            <a:noFill/>
          </a:ln>
        </p:spPr>
      </p:pic>
      <p:sp>
        <p:nvSpPr>
          <p:cNvPr id="4" name="vertical-red"/>
          <p:cNvSpPr/>
          <p:nvPr/>
        </p:nvSpPr>
        <p:spPr>
          <a:xfrm>
            <a:off x="7797800" y="0"/>
            <a:ext cx="101600" cy="6858000"/>
          </a:xfrm>
          <a:prstGeom prst="rect">
            <a:avLst/>
          </a:prstGeom>
          <a:solidFill>
            <a:srgbClr val="A6412D"/>
          </a:solidFill>
          <a:ln>
            <a:noFill/>
          </a:ln>
        </p:spPr>
      </p:sp>
      <p:sp>
        <p:nvSpPr>
          <p:cNvPr id="5" name="glyph"/>
          <p:cNvSpPr txBox="1"/>
          <p:nvPr/>
        </p:nvSpPr>
        <p:spPr>
          <a:xfrm>
            <a:off x="8458200" y="431800"/>
            <a:ext cx="27940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15000"/>
              </a:lnSpc>
            </a:pPr>
            <a:r>
              <a:rPr lang="en-US" sz="13600" noProof="1" b="1" spc="0" kern="0">
                <a:solidFill>
                  <a:srgbClr val="191A17"/>
                </a:solidFill>
                <a:latin typeface="MiSans"/>
                <a:ea typeface="MiSans"/>
              </a:rPr>
              <a:t>午</a:t>
            </a:r>
            <a:endParaRPr lang="en-US" sz="13600" noProof="1"/>
          </a:p>
        </p:txBody>
      </p:sp>
      <p:sp>
        <p:nvSpPr>
          <p:cNvPr id="6" name="hour"/>
          <p:cNvSpPr txBox="1"/>
          <p:nvPr/>
        </p:nvSpPr>
        <p:spPr>
          <a:xfrm>
            <a:off x="8432800" y="28702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5000"/>
              </a:lnSpc>
            </a:pPr>
            <a:r>
              <a:rPr lang="en-US" sz="1600" noProof="1" b="1" spc="120" kern="0">
                <a:solidFill>
                  <a:srgbClr val="A6412D"/>
                </a:solidFill>
                <a:latin typeface="MiSans"/>
                <a:ea typeface="MiSans"/>
              </a:rPr>
              <a:t>午时 / NOON</a:t>
            </a:r>
            <a:endParaRPr lang="en-US" sz="1600" noProof="1"/>
          </a:p>
        </p:txBody>
      </p:sp>
      <p:sp>
        <p:nvSpPr>
          <p:cNvPr id="7" name="title"/>
          <p:cNvSpPr txBox="1"/>
          <p:nvPr/>
        </p:nvSpPr>
        <p:spPr>
          <a:xfrm>
            <a:off x="8255000" y="3632200"/>
            <a:ext cx="3429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4000" noProof="1" b="1" spc="0" kern="0">
                <a:solidFill>
                  <a:srgbClr val="191A17"/>
                </a:solidFill>
                <a:latin typeface="MiSans"/>
                <a:ea typeface="MiSans"/>
              </a:rPr>
              <a:t>日正当中
市声最盛</a:t>
            </a:r>
            <a:endParaRPr lang="en-US" sz="4000" noProof="1"/>
          </a:p>
        </p:txBody>
      </p:sp>
      <p:sp>
        <p:nvSpPr>
          <p:cNvPr id="8" name="shops"/>
          <p:cNvSpPr txBox="1"/>
          <p:nvPr/>
        </p:nvSpPr>
        <p:spPr>
          <a:xfrm>
            <a:off x="8305800" y="54102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5000"/>
              </a:lnSpc>
            </a:pPr>
            <a:r>
              <a:rPr lang="en-US" sz="1700" noProof="1" spc="0" kern="0">
                <a:solidFill>
                  <a:srgbClr val="6E6A61"/>
                </a:solidFill>
                <a:latin typeface="MiSans"/>
                <a:ea typeface="MiSans"/>
              </a:rPr>
              <a:t>扇子 / 杂货 / 香囊</a:t>
            </a:r>
            <a:endParaRPr lang="en-US" sz="1700" noProof="1"/>
          </a:p>
        </p:txBody>
      </p:sp>
      <p:pic>
        <p:nvPicPr>
          <p:cNvPr id="9" name="fan"/>
          <p:cNvPicPr/>
          <p:nvPr/>
        </p:nvPicPr>
        <p:blipFill>
          <a:blip r:embed="rId3"/>
          <a:srcRect l="0" r="0"/>
          <a:stretch>
            <a:fillRect/>
          </a:stretch>
        </p:blipFill>
        <p:spPr>
          <a:xfrm>
            <a:off x="6096000" y="4216400"/>
            <a:ext cx="1676400" cy="1676400"/>
          </a:xfrm>
          <a:prstGeom prst="rect">
            <a:avLst/>
          </a:prstGeom>
          <a:ln>
            <a:noFill/>
          </a:ln>
        </p:spPr>
      </p:pic>
      <p:sp>
        <p:nvSpPr>
          <p:cNvPr id="10" name="num"/>
          <p:cNvSpPr txBox="1"/>
          <p:nvPr/>
        </p:nvSpPr>
        <p:spPr>
          <a:xfrm>
            <a:off x="355600" y="3302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200" noProof="1" spc="0" kern="0">
                <a:solidFill>
                  <a:srgbClr val="6E6A61"/>
                </a:solidFill>
                <a:latin typeface="MiSans"/>
                <a:ea typeface="MiSans"/>
              </a:rPr>
              <a:t>09</a:t>
            </a:r>
            <a:endParaRPr lang="en-US" sz="12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B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ight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0"/>
          </a:solidFill>
          <a:ln>
            <a:noFill/>
          </a:ln>
        </p:spPr>
      </p:sp>
      <p:sp>
        <p:nvSpPr>
          <p:cNvPr id="3" name="meta"/>
          <p:cNvSpPr txBox="1"/>
          <p:nvPr/>
        </p:nvSpPr>
        <p:spPr>
          <a:xfrm>
            <a:off x="609600" y="3302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150" kern="0">
                <a:solidFill>
                  <a:srgbClr val="F4E8CF"/>
                </a:solidFill>
                <a:latin typeface="MiSans"/>
                <a:ea typeface="MiSans"/>
              </a:rPr>
              <a:t>10  /  夜市</a:t>
            </a:r>
            <a:endParaRPr lang="en-US" sz="1000" noProof="1"/>
          </a:p>
        </p:txBody>
      </p:sp>
      <p:sp>
        <p:nvSpPr>
          <p:cNvPr id="4" name="glyph"/>
          <p:cNvSpPr txBox="1"/>
          <p:nvPr/>
        </p:nvSpPr>
        <p:spPr>
          <a:xfrm>
            <a:off x="685800" y="838200"/>
            <a:ext cx="3175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4200" noProof="1" b="1" spc="0" kern="0">
                <a:solidFill>
                  <a:srgbClr val="D99A52"/>
                </a:solidFill>
                <a:latin typeface="MiSans"/>
                <a:ea typeface="MiSans"/>
              </a:rPr>
              <a:t>夜</a:t>
            </a:r>
            <a:endParaRPr lang="en-US" sz="14200" noProof="1"/>
          </a:p>
        </p:txBody>
      </p:sp>
      <p:sp>
        <p:nvSpPr>
          <p:cNvPr id="5" name="hour"/>
          <p:cNvSpPr txBox="1"/>
          <p:nvPr/>
        </p:nvSpPr>
        <p:spPr>
          <a:xfrm>
            <a:off x="762000" y="33020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 b="1" spc="120" kern="0">
                <a:solidFill>
                  <a:srgbClr val="F4E8CF"/>
                </a:solidFill>
                <a:latin typeface="MiSans"/>
                <a:ea typeface="MiSans"/>
              </a:rPr>
              <a:t>戌时 / NIGHT</a:t>
            </a:r>
            <a:endParaRPr lang="en-US" sz="1600" noProof="1"/>
          </a:p>
        </p:txBody>
      </p:sp>
      <p:sp>
        <p:nvSpPr>
          <p:cNvPr id="6" name="title"/>
          <p:cNvSpPr txBox="1"/>
          <p:nvPr/>
        </p:nvSpPr>
        <p:spPr>
          <a:xfrm>
            <a:off x="685800" y="4064000"/>
            <a:ext cx="45720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F4E8CF"/>
                </a:solidFill>
                <a:latin typeface="MiSans"/>
                <a:ea typeface="MiSans"/>
              </a:rPr>
              <a:t>灯火初上
人影渐长</a:t>
            </a:r>
            <a:endParaRPr lang="en-US" sz="4400" noProof="1"/>
          </a:p>
        </p:txBody>
      </p:sp>
      <p:sp>
        <p:nvSpPr>
          <p:cNvPr id="7" name="shops"/>
          <p:cNvSpPr txBox="1"/>
          <p:nvPr/>
        </p:nvSpPr>
        <p:spPr>
          <a:xfrm>
            <a:off x="736600" y="5842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 spc="0" kern="0">
                <a:solidFill>
                  <a:srgbClr val="D99A52"/>
                </a:solidFill>
                <a:latin typeface="MiSans"/>
                <a:ea typeface="MiSans"/>
              </a:rPr>
              <a:t>古董摊  ·  花灯摊  ·  酿酒摊</a:t>
            </a:r>
            <a:endParaRPr lang="en-US" sz="1700" noProof="1"/>
          </a:p>
        </p:txBody>
      </p:sp>
      <p:pic>
        <p:nvPicPr>
          <p:cNvPr id="8" name="market"/>
          <p:cNvPicPr/>
          <p:nvPr/>
        </p:nvPicPr>
        <p:blipFill>
          <a:blip r:embed="rId2"/>
          <a:srcRect t="-7867" b="-7867"/>
          <a:stretch>
            <a:fillRect/>
          </a:stretch>
        </p:blipFill>
        <p:spPr>
          <a:xfrm>
            <a:off x="4267200" y="660400"/>
            <a:ext cx="7620000" cy="5511800"/>
          </a:xfrm>
          <a:prstGeom prst="rect">
            <a:avLst/>
          </a:prstGeom>
          <a:ln>
            <a:noFill/>
          </a:ln>
        </p:spPr>
      </p:pic>
      <p:pic>
        <p:nvPicPr>
          <p:cNvPr id="9" name="lamp"/>
          <p:cNvPicPr/>
          <p:nvPr/>
        </p:nvPicPr>
        <p:blipFill>
          <a:blip r:embed="rId3"/>
          <a:srcRect t="-8182" b="-8182"/>
          <a:stretch>
            <a:fillRect/>
          </a:stretch>
        </p:blipFill>
        <p:spPr>
          <a:xfrm>
            <a:off x="9626600" y="4343400"/>
            <a:ext cx="1397000" cy="1625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a"/>
          <p:cNvSpPr txBox="1"/>
          <p:nvPr/>
        </p:nvSpPr>
        <p:spPr>
          <a:xfrm>
            <a:off x="609600" y="3048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150" kern="0">
                <a:solidFill>
                  <a:srgbClr val="6E6A61"/>
                </a:solidFill>
                <a:latin typeface="MiSans"/>
                <a:ea typeface="MiSans"/>
              </a:rPr>
              <a:t>11  /  空间与游线</a:t>
            </a:r>
            <a:endParaRPr lang="en-US" sz="1000" noProof="1"/>
          </a:p>
        </p:txBody>
      </p:sp>
      <p:sp>
        <p:nvSpPr>
          <p:cNvPr id="3" name="brand"/>
          <p:cNvSpPr txBox="1"/>
          <p:nvPr/>
        </p:nvSpPr>
        <p:spPr>
          <a:xfrm>
            <a:off x="8763000" y="3048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000" noProof="1" spc="100" kern="0">
                <a:solidFill>
                  <a:srgbClr val="6E6A61"/>
                </a:solidFill>
                <a:latin typeface="MiSans"/>
                <a:ea typeface="MiSans"/>
              </a:rPr>
              <a:t>义犹未尽 · 义乌三时市集</a:t>
            </a:r>
            <a:endParaRPr lang="en-US" sz="10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787400"/>
            <a:ext cx="7874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191A17"/>
                </a:solidFill>
                <a:latin typeface="MiSans"/>
                <a:ea typeface="MiSans"/>
              </a:rPr>
              <a:t>从总览，到一件商品</a:t>
            </a:r>
            <a:endParaRPr lang="en-US" sz="4400" noProof="1"/>
          </a:p>
        </p:txBody>
      </p:sp>
      <p:pic>
        <p:nvPicPr>
          <p:cNvPr id="5" name="map"/>
          <p:cNvPicPr/>
          <p:nvPr/>
        </p:nvPicPr>
        <p:blipFill>
          <a:blip r:embed="rId2"/>
          <a:srcRect t="1814" b="1814"/>
          <a:stretch>
            <a:fillRect/>
          </a:stretch>
        </p:blipFill>
        <p:spPr>
          <a:xfrm>
            <a:off x="533400" y="1752600"/>
            <a:ext cx="6959600" cy="4191000"/>
          </a:xfrm>
          <a:prstGeom prst="rect">
            <a:avLst/>
          </a:prstGeom>
          <a:ln>
            <a:noFill/>
          </a:ln>
        </p:spPr>
      </p:pic>
      <p:sp>
        <p:nvSpPr>
          <p:cNvPr id="6" name="map-cap"/>
          <p:cNvSpPr txBox="1"/>
          <p:nvPr/>
        </p:nvSpPr>
        <p:spPr>
          <a:xfrm>
            <a:off x="609600" y="6070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0" kern="0">
                <a:solidFill>
                  <a:srgbClr val="6E6A61"/>
                </a:solidFill>
                <a:latin typeface="MiSans"/>
                <a:ea typeface="MiSans"/>
              </a:rPr>
              <a:t>场景俯视图 / 空间布局推演</a:t>
            </a:r>
            <a:endParaRPr lang="en-US" sz="1000" noProof="1"/>
          </a:p>
        </p:txBody>
      </p:sp>
      <p:sp>
        <p:nvSpPr>
          <p:cNvPr id="7" name="rout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8305800" y="1955800"/>
            <a:ext cx="25400" cy="33020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38100">
            <a:solidFill>
              <a:srgbClr val="A6412D"/>
            </a:solidFill>
          </a:ln>
        </p:spPr>
      </p:sp>
      <p:sp>
        <p:nvSpPr>
          <p:cNvPr id="8" name="r1"/>
          <p:cNvSpPr txBox="1"/>
          <p:nvPr/>
        </p:nvSpPr>
        <p:spPr>
          <a:xfrm>
            <a:off x="8077200" y="1803400"/>
            <a:ext cx="35052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500" noProof="1" b="1" spc="0" kern="0">
                <a:solidFill>
                  <a:srgbClr val="191A17"/>
                </a:solidFill>
                <a:latin typeface="MiSans"/>
                <a:ea typeface="MiSans"/>
              </a:rPr>
              <a:t>01  总览换时</a:t>
            </a:r>
            <a:endParaRPr lang="en-US" sz="2500" noProof="1"/>
          </a:p>
        </p:txBody>
      </p:sp>
      <p:sp>
        <p:nvSpPr>
          <p:cNvPr id="9" name="r2"/>
          <p:cNvSpPr txBox="1"/>
          <p:nvPr/>
        </p:nvSpPr>
        <p:spPr>
          <a:xfrm>
            <a:off x="8585200" y="2819400"/>
            <a:ext cx="29972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500" noProof="1" b="1" spc="0" kern="0">
                <a:solidFill>
                  <a:srgbClr val="191A17"/>
                </a:solidFill>
                <a:latin typeface="MiSans"/>
                <a:ea typeface="MiSans"/>
              </a:rPr>
              <a:t>02  角色入市</a:t>
            </a:r>
            <a:endParaRPr lang="en-US" sz="2500" noProof="1"/>
          </a:p>
        </p:txBody>
      </p:sp>
      <p:sp>
        <p:nvSpPr>
          <p:cNvPr id="10" name="r3"/>
          <p:cNvSpPr txBox="1"/>
          <p:nvPr/>
        </p:nvSpPr>
        <p:spPr>
          <a:xfrm>
            <a:off x="8077200" y="3835400"/>
            <a:ext cx="35052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500" noProof="1" b="1" spc="0" kern="0">
                <a:solidFill>
                  <a:srgbClr val="191A17"/>
                </a:solidFill>
                <a:latin typeface="MiSans"/>
                <a:ea typeface="MiSans"/>
              </a:rPr>
              <a:t>03  驻摊互动</a:t>
            </a:r>
            <a:endParaRPr lang="en-US" sz="2500" noProof="1"/>
          </a:p>
        </p:txBody>
      </p:sp>
      <p:sp>
        <p:nvSpPr>
          <p:cNvPr id="11" name="r4"/>
          <p:cNvSpPr txBox="1"/>
          <p:nvPr/>
        </p:nvSpPr>
        <p:spPr>
          <a:xfrm>
            <a:off x="8585200" y="4851400"/>
            <a:ext cx="29972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500" noProof="1" b="1" spc="0" kern="0">
                <a:solidFill>
                  <a:srgbClr val="191A17"/>
                </a:solidFill>
                <a:latin typeface="MiSans"/>
                <a:ea typeface="MiSans"/>
              </a:rPr>
              <a:t>04  近看商品</a:t>
            </a:r>
            <a:endParaRPr lang="en-US" sz="2500" noProof="1"/>
          </a:p>
        </p:txBody>
      </p:sp>
      <p:sp>
        <p:nvSpPr>
          <p:cNvPr id="12" name="side"/>
          <p:cNvSpPr txBox="1"/>
          <p:nvPr/>
        </p:nvSpPr>
        <p:spPr>
          <a:xfrm>
            <a:off x="8077200" y="58166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400" noProof="1" spc="0" kern="0">
                <a:solidFill>
                  <a:srgbClr val="6E6A61"/>
                </a:solidFill>
                <a:latin typeface="MiSans"/>
                <a:ea typeface="MiSans"/>
              </a:rPr>
              <a:t>滚轮 / WASD / 长按 E / 点击</a:t>
            </a:r>
            <a:endParaRPr lang="en-US" sz="14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a"/>
          <p:cNvSpPr txBox="1"/>
          <p:nvPr/>
        </p:nvSpPr>
        <p:spPr>
          <a:xfrm>
            <a:off x="609600" y="3048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150" kern="0">
                <a:solidFill>
                  <a:srgbClr val="6E6A61"/>
                </a:solidFill>
                <a:latin typeface="MiSans"/>
                <a:ea typeface="MiSans"/>
              </a:rPr>
              <a:t>12  /  产品展示</a:t>
            </a:r>
            <a:endParaRPr lang="en-US" sz="1000" noProof="1"/>
          </a:p>
        </p:txBody>
      </p:sp>
      <p:sp>
        <p:nvSpPr>
          <p:cNvPr id="3" name="brand"/>
          <p:cNvSpPr txBox="1"/>
          <p:nvPr/>
        </p:nvSpPr>
        <p:spPr>
          <a:xfrm>
            <a:off x="8763000" y="3048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000" noProof="1" spc="100" kern="0">
                <a:solidFill>
                  <a:srgbClr val="6E6A61"/>
                </a:solidFill>
                <a:latin typeface="MiSans"/>
                <a:ea typeface="MiSans"/>
              </a:rPr>
              <a:t>义犹未尽 · 义乌三时市集</a:t>
            </a:r>
            <a:endParaRPr lang="en-US" sz="10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736600"/>
            <a:ext cx="8128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191A17"/>
                </a:solidFill>
                <a:latin typeface="MiSans"/>
                <a:ea typeface="MiSans"/>
              </a:rPr>
              <a:t>一摊一物，各有性格</a:t>
            </a:r>
            <a:endParaRPr lang="en-US" sz="4400" noProof="1"/>
          </a:p>
        </p:txBody>
      </p:sp>
      <p:sp>
        <p:nvSpPr>
          <p:cNvPr id="5" name="sub"/>
          <p:cNvSpPr txBox="1"/>
          <p:nvPr/>
        </p:nvSpPr>
        <p:spPr>
          <a:xfrm>
            <a:off x="635000" y="1574800"/>
            <a:ext cx="787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 spc="0" kern="0">
                <a:solidFill>
                  <a:srgbClr val="6E6A61"/>
                </a:solidFill>
                <a:latin typeface="MiSans"/>
                <a:ea typeface="MiSans"/>
              </a:rPr>
              <a:t>13 件三维商品，按三时市集与 9 个摊位编组。</a:t>
            </a:r>
            <a:endParaRPr lang="en-US" sz="1700" noProof="1"/>
          </a:p>
        </p:txBody>
      </p:sp>
      <p:sp>
        <p:nvSpPr>
          <p:cNvPr id="6" name="gallery-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09600" y="22098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191A17"/>
            </a:solidFill>
          </a:ln>
        </p:spPr>
      </p:sp>
      <p:pic>
        <p:nvPicPr>
          <p:cNvPr id="7" name="cup"/>
          <p:cNvPicPr/>
          <p:nvPr/>
        </p:nvPicPr>
        <p:blipFill>
          <a:blip r:embed="rId2"/>
          <a:srcRect l="-1220" r="-1220"/>
          <a:stretch>
            <a:fillRect/>
          </a:stretch>
        </p:blipFill>
        <p:spPr>
          <a:xfrm>
            <a:off x="482600" y="2387600"/>
            <a:ext cx="2133600" cy="2082800"/>
          </a:xfrm>
          <a:prstGeom prst="rect">
            <a:avLst/>
          </a:prstGeom>
          <a:ln>
            <a:noFill/>
          </a:ln>
        </p:spPr>
      </p:pic>
      <p:sp>
        <p:nvSpPr>
          <p:cNvPr id="8" name="cup-t"/>
          <p:cNvSpPr txBox="1"/>
          <p:nvPr/>
        </p:nvSpPr>
        <p:spPr>
          <a:xfrm>
            <a:off x="736600" y="4572000"/>
            <a:ext cx="162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5000"/>
              </a:lnSpc>
            </a:pPr>
            <a:r>
              <a:rPr lang="en-US" sz="2000" noProof="1" b="1" spc="0" kern="0">
                <a:solidFill>
                  <a:srgbClr val="191A17"/>
                </a:solidFill>
                <a:latin typeface="MiSans"/>
                <a:ea typeface="MiSans"/>
              </a:rPr>
              <a:t>陶瓷杯</a:t>
            </a:r>
            <a:endParaRPr lang="en-US" sz="2000" noProof="1"/>
          </a:p>
        </p:txBody>
      </p:sp>
      <p:pic>
        <p:nvPicPr>
          <p:cNvPr id="9" name="toast"/>
          <p:cNvPicPr/>
          <p:nvPr/>
        </p:nvPicPr>
        <p:blipFill>
          <a:blip r:embed="rId3"/>
          <a:srcRect l="0" r="0"/>
          <a:stretch>
            <a:fillRect/>
          </a:stretch>
        </p:blipFill>
        <p:spPr>
          <a:xfrm>
            <a:off x="2590800" y="2692400"/>
            <a:ext cx="1803400" cy="1803400"/>
          </a:xfrm>
          <a:prstGeom prst="rect">
            <a:avLst/>
          </a:prstGeom>
          <a:ln>
            <a:noFill/>
          </a:ln>
        </p:spPr>
      </p:pic>
      <p:sp>
        <p:nvSpPr>
          <p:cNvPr id="10" name="toast-t"/>
          <p:cNvSpPr txBox="1"/>
          <p:nvPr/>
        </p:nvSpPr>
        <p:spPr>
          <a:xfrm>
            <a:off x="2667000" y="4572000"/>
            <a:ext cx="1676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5000"/>
              </a:lnSpc>
            </a:pPr>
            <a:r>
              <a:rPr lang="en-US" sz="2000" noProof="1" b="1" spc="0" kern="0">
                <a:solidFill>
                  <a:srgbClr val="191A17"/>
                </a:solidFill>
                <a:latin typeface="MiSans"/>
                <a:ea typeface="MiSans"/>
              </a:rPr>
              <a:t>面包碟</a:t>
            </a:r>
            <a:endParaRPr lang="en-US" sz="2000" noProof="1"/>
          </a:p>
        </p:txBody>
      </p:sp>
      <p:pic>
        <p:nvPicPr>
          <p:cNvPr id="11" name="fan"/>
          <p:cNvPicPr/>
          <p:nvPr/>
        </p:nvPicPr>
        <p:blipFill>
          <a:blip r:embed="rId4"/>
          <a:srcRect l="-4598" r="-4598"/>
          <a:stretch>
            <a:fillRect/>
          </a:stretch>
        </p:blipFill>
        <p:spPr>
          <a:xfrm>
            <a:off x="4445000" y="2336800"/>
            <a:ext cx="2413000" cy="2209800"/>
          </a:xfrm>
          <a:prstGeom prst="rect">
            <a:avLst/>
          </a:prstGeom>
          <a:ln>
            <a:noFill/>
          </a:ln>
        </p:spPr>
      </p:pic>
      <p:sp>
        <p:nvSpPr>
          <p:cNvPr id="12" name="fan-t"/>
          <p:cNvSpPr txBox="1"/>
          <p:nvPr/>
        </p:nvSpPr>
        <p:spPr>
          <a:xfrm>
            <a:off x="4572000" y="45720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5000"/>
              </a:lnSpc>
            </a:pPr>
            <a:r>
              <a:rPr lang="en-US" sz="2000" noProof="1" b="1" spc="0" kern="0">
                <a:solidFill>
                  <a:srgbClr val="A6412D"/>
                </a:solidFill>
                <a:latin typeface="MiSans"/>
                <a:ea typeface="MiSans"/>
              </a:rPr>
              <a:t>清风红扇</a:t>
            </a:r>
            <a:endParaRPr lang="en-US" sz="2000" noProof="1"/>
          </a:p>
        </p:txBody>
      </p:sp>
      <p:pic>
        <p:nvPicPr>
          <p:cNvPr id="13" name="cat"/>
          <p:cNvPicPr/>
          <p:nvPr/>
        </p:nvPicPr>
        <p:blipFill>
          <a:blip r:embed="rId5"/>
          <a:srcRect t="-4412" b="-4412"/>
          <a:stretch>
            <a:fillRect/>
          </a:stretch>
        </p:blipFill>
        <p:spPr>
          <a:xfrm>
            <a:off x="6908800" y="2616200"/>
            <a:ext cx="1727200" cy="1879600"/>
          </a:xfrm>
          <a:prstGeom prst="rect">
            <a:avLst/>
          </a:prstGeom>
          <a:ln>
            <a:noFill/>
          </a:ln>
        </p:spPr>
      </p:pic>
      <p:sp>
        <p:nvSpPr>
          <p:cNvPr id="14" name="cat-t"/>
          <p:cNvSpPr txBox="1"/>
          <p:nvPr/>
        </p:nvSpPr>
        <p:spPr>
          <a:xfrm>
            <a:off x="6908800" y="45720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5000"/>
              </a:lnSpc>
            </a:pPr>
            <a:r>
              <a:rPr lang="en-US" sz="2000" noProof="1" b="1" spc="0" kern="0">
                <a:solidFill>
                  <a:srgbClr val="191A17"/>
                </a:solidFill>
                <a:latin typeface="MiSans"/>
                <a:ea typeface="MiSans"/>
              </a:rPr>
              <a:t>小猫陶罐</a:t>
            </a:r>
            <a:endParaRPr lang="en-US" sz="2000" noProof="1"/>
          </a:p>
        </p:txBody>
      </p:sp>
      <p:pic>
        <p:nvPicPr>
          <p:cNvPr id="15" name="clock"/>
          <p:cNvPicPr/>
          <p:nvPr/>
        </p:nvPicPr>
        <p:blipFill>
          <a:blip r:embed="rId6"/>
          <a:srcRect t="-5333" b="-5333"/>
          <a:stretch>
            <a:fillRect/>
          </a:stretch>
        </p:blipFill>
        <p:spPr>
          <a:xfrm>
            <a:off x="8661400" y="2362200"/>
            <a:ext cx="1905000" cy="2108200"/>
          </a:xfrm>
          <a:prstGeom prst="rect">
            <a:avLst/>
          </a:prstGeom>
          <a:ln>
            <a:noFill/>
          </a:ln>
        </p:spPr>
      </p:pic>
      <p:sp>
        <p:nvSpPr>
          <p:cNvPr id="16" name="clock-t"/>
          <p:cNvSpPr txBox="1"/>
          <p:nvPr/>
        </p:nvSpPr>
        <p:spPr>
          <a:xfrm>
            <a:off x="8737600" y="45720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5000"/>
              </a:lnSpc>
            </a:pPr>
            <a:r>
              <a:rPr lang="en-US" sz="2000" noProof="1" b="1" spc="0" kern="0">
                <a:solidFill>
                  <a:srgbClr val="191A17"/>
                </a:solidFill>
                <a:latin typeface="MiSans"/>
                <a:ea typeface="MiSans"/>
              </a:rPr>
              <a:t>百珍时钟</a:t>
            </a:r>
            <a:endParaRPr lang="en-US" sz="2000" noProof="1"/>
          </a:p>
        </p:txBody>
      </p:sp>
      <p:pic>
        <p:nvPicPr>
          <p:cNvPr id="17" name="goblet"/>
          <p:cNvPicPr/>
          <p:nvPr/>
        </p:nvPicPr>
        <p:blipFill>
          <a:blip r:embed="rId7"/>
          <a:srcRect t="-46739" b="-46739"/>
          <a:stretch>
            <a:fillRect/>
          </a:stretch>
        </p:blipFill>
        <p:spPr>
          <a:xfrm>
            <a:off x="10464800" y="2260600"/>
            <a:ext cx="1168400" cy="2260600"/>
          </a:xfrm>
          <a:prstGeom prst="rect">
            <a:avLst/>
          </a:prstGeom>
          <a:ln>
            <a:noFill/>
          </a:ln>
        </p:spPr>
      </p:pic>
      <p:sp>
        <p:nvSpPr>
          <p:cNvPr id="18" name="goblet-t"/>
          <p:cNvSpPr txBox="1"/>
          <p:nvPr/>
        </p:nvSpPr>
        <p:spPr>
          <a:xfrm>
            <a:off x="10185400" y="45720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5000"/>
              </a:lnSpc>
            </a:pPr>
            <a:r>
              <a:rPr lang="en-US" sz="2000" noProof="1" b="1" spc="0" kern="0">
                <a:solidFill>
                  <a:srgbClr val="191A17"/>
                </a:solidFill>
                <a:latin typeface="MiSans"/>
                <a:ea typeface="MiSans"/>
              </a:rPr>
              <a:t>沧海星杯</a:t>
            </a:r>
            <a:endParaRPr lang="en-US" sz="2000" noProof="1"/>
          </a:p>
        </p:txBody>
      </p:sp>
      <p:sp>
        <p:nvSpPr>
          <p:cNvPr id="19" name="bottom"/>
          <p:cNvSpPr txBox="1"/>
          <p:nvPr/>
        </p:nvSpPr>
        <p:spPr>
          <a:xfrm>
            <a:off x="609600" y="56134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500" noProof="1" b="1" spc="0" kern="0">
                <a:solidFill>
                  <a:srgbClr val="A6412D"/>
                </a:solidFill>
                <a:latin typeface="MiSans"/>
                <a:ea typeface="MiSans"/>
              </a:rPr>
              <a:t>器物不只被陈列，也成为进入摊位故事的线索。</a:t>
            </a:r>
            <a:endParaRPr lang="en-US" sz="25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a"/>
          <p:cNvSpPr txBox="1"/>
          <p:nvPr/>
        </p:nvSpPr>
        <p:spPr>
          <a:xfrm>
            <a:off x="609600" y="3048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150" kern="0">
                <a:solidFill>
                  <a:srgbClr val="6E6A61"/>
                </a:solidFill>
                <a:latin typeface="MiSans"/>
                <a:ea typeface="MiSans"/>
              </a:rPr>
              <a:t>13  /  互动体验</a:t>
            </a:r>
            <a:endParaRPr lang="en-US" sz="1000" noProof="1"/>
          </a:p>
        </p:txBody>
      </p:sp>
      <p:sp>
        <p:nvSpPr>
          <p:cNvPr id="3" name="brand"/>
          <p:cNvSpPr txBox="1"/>
          <p:nvPr/>
        </p:nvSpPr>
        <p:spPr>
          <a:xfrm>
            <a:off x="8763000" y="3048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000" noProof="1" spc="100" kern="0">
                <a:solidFill>
                  <a:srgbClr val="6E6A61"/>
                </a:solidFill>
                <a:latin typeface="MiSans"/>
                <a:ea typeface="MiSans"/>
              </a:rPr>
              <a:t>义犹未尽 · 义乌三时市集</a:t>
            </a:r>
            <a:endParaRPr lang="en-US" sz="10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736600"/>
            <a:ext cx="6604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600" noProof="1" b="1" spc="0" kern="0">
                <a:solidFill>
                  <a:srgbClr val="191A17"/>
                </a:solidFill>
                <a:latin typeface="MiSans"/>
                <a:ea typeface="MiSans"/>
              </a:rPr>
              <a:t>逛，停，看，选</a:t>
            </a:r>
            <a:endParaRPr lang="en-US" sz="4600" noProof="1"/>
          </a:p>
        </p:txBody>
      </p:sp>
      <p:pic>
        <p:nvPicPr>
          <p:cNvPr id="5" name="stall"/>
          <p:cNvPicPr/>
          <p:nvPr/>
        </p:nvPicPr>
        <p:blipFill>
          <a:blip r:embed="rId2"/>
          <a:srcRect t="4545" b="4545"/>
          <a:stretch>
            <a:fillRect/>
          </a:stretch>
        </p:blipFill>
        <p:spPr>
          <a:xfrm>
            <a:off x="609600" y="1803400"/>
            <a:ext cx="6705600" cy="4064000"/>
          </a:xfrm>
          <a:prstGeom prst="rect">
            <a:avLst/>
          </a:prstGeom>
          <a:ln>
            <a:noFill/>
          </a:ln>
        </p:spPr>
      </p:pic>
      <p:pic>
        <p:nvPicPr>
          <p:cNvPr id="6" name="product"/>
          <p:cNvPicPr/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7010400" y="2387600"/>
            <a:ext cx="4572000" cy="3048000"/>
          </a:xfrm>
          <a:prstGeom prst="rect">
            <a:avLst/>
          </a:prstGeom>
          <a:ln>
            <a:noFill/>
          </a:ln>
        </p:spPr>
      </p:pic>
      <p:sp>
        <p:nvSpPr>
          <p:cNvPr id="7" name="product-border"/>
          <p:cNvSpPr/>
          <p:nvPr/>
        </p:nvSpPr>
        <p:spPr>
          <a:xfrm>
            <a:off x="7010400" y="2387600"/>
            <a:ext cx="4572000" cy="3048000"/>
          </a:xfrm>
          <a:prstGeom prst="rect">
            <a:avLst/>
          </a:prstGeom>
          <a:noFill/>
          <a:ln w="76200">
            <a:solidFill>
              <a:srgbClr val="F4F0E6"/>
            </a:solidFill>
          </a:ln>
        </p:spPr>
      </p:sp>
      <p:sp>
        <p:nvSpPr>
          <p:cNvPr id="8" name="step1"/>
          <p:cNvSpPr txBox="1"/>
          <p:nvPr/>
        </p:nvSpPr>
        <p:spPr>
          <a:xfrm>
            <a:off x="685800" y="6070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800" noProof="1" b="1" spc="0" kern="0">
                <a:solidFill>
                  <a:srgbClr val="191A17"/>
                </a:solidFill>
                <a:latin typeface="MiSans"/>
                <a:ea typeface="MiSans"/>
              </a:rPr>
              <a:t>01  靠近摊位</a:t>
            </a:r>
            <a:endParaRPr lang="en-US" sz="1800" noProof="1"/>
          </a:p>
        </p:txBody>
      </p:sp>
      <p:sp>
        <p:nvSpPr>
          <p:cNvPr id="9" name="step2"/>
          <p:cNvSpPr txBox="1"/>
          <p:nvPr/>
        </p:nvSpPr>
        <p:spPr>
          <a:xfrm>
            <a:off x="3632200" y="6070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800" noProof="1" b="1" spc="0" kern="0">
                <a:solidFill>
                  <a:srgbClr val="191A17"/>
                </a:solidFill>
                <a:latin typeface="MiSans"/>
                <a:ea typeface="MiSans"/>
              </a:rPr>
              <a:t>02  镜头切换</a:t>
            </a:r>
            <a:endParaRPr lang="en-US" sz="1800" noProof="1"/>
          </a:p>
        </p:txBody>
      </p:sp>
      <p:sp>
        <p:nvSpPr>
          <p:cNvPr id="10" name="step3"/>
          <p:cNvSpPr txBox="1"/>
          <p:nvPr/>
        </p:nvSpPr>
        <p:spPr>
          <a:xfrm>
            <a:off x="6578600" y="60706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800" noProof="1" b="1" spc="0" kern="0">
                <a:solidFill>
                  <a:srgbClr val="A6412D"/>
                </a:solidFill>
                <a:latin typeface="MiSans"/>
                <a:ea typeface="MiSans"/>
              </a:rPr>
              <a:t>03  商品细看</a:t>
            </a:r>
            <a:endParaRPr lang="en-US" sz="1800" noProof="1"/>
          </a:p>
        </p:txBody>
      </p:sp>
      <p:sp>
        <p:nvSpPr>
          <p:cNvPr id="11" name="step4"/>
          <p:cNvSpPr txBox="1"/>
          <p:nvPr/>
        </p:nvSpPr>
        <p:spPr>
          <a:xfrm>
            <a:off x="9067800" y="6070600"/>
            <a:ext cx="2514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800" noProof="1" b="1" spc="0" kern="0">
                <a:solidFill>
                  <a:srgbClr val="191A17"/>
                </a:solidFill>
                <a:latin typeface="MiSans"/>
                <a:ea typeface="MiSans"/>
              </a:rPr>
              <a:t>04  加入购物车</a:t>
            </a:r>
            <a:endParaRPr lang="en-US" sz="18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a"/>
          <p:cNvSpPr txBox="1"/>
          <p:nvPr/>
        </p:nvSpPr>
        <p:spPr>
          <a:xfrm>
            <a:off x="609600" y="3048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150" kern="0">
                <a:solidFill>
                  <a:srgbClr val="6E6A61"/>
                </a:solidFill>
                <a:latin typeface="MiSans"/>
                <a:ea typeface="MiSans"/>
              </a:rPr>
              <a:t>14  /  制作流程</a:t>
            </a:r>
            <a:endParaRPr lang="en-US" sz="1000" noProof="1"/>
          </a:p>
        </p:txBody>
      </p:sp>
      <p:sp>
        <p:nvSpPr>
          <p:cNvPr id="3" name="brand"/>
          <p:cNvSpPr txBox="1"/>
          <p:nvPr/>
        </p:nvSpPr>
        <p:spPr>
          <a:xfrm>
            <a:off x="8763000" y="3048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000" noProof="1" spc="100" kern="0">
                <a:solidFill>
                  <a:srgbClr val="6E6A61"/>
                </a:solidFill>
                <a:latin typeface="MiSans"/>
                <a:ea typeface="MiSans"/>
              </a:rPr>
              <a:t>义犹未尽 · 义乌三时市集</a:t>
            </a:r>
            <a:endParaRPr lang="en-US" sz="10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736600"/>
            <a:ext cx="7874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191A17"/>
                </a:solidFill>
                <a:latin typeface="MiSans"/>
                <a:ea typeface="MiSans"/>
              </a:rPr>
              <a:t>两条路线，同步落地</a:t>
            </a:r>
            <a:endParaRPr lang="en-US" sz="4400" noProof="1"/>
          </a:p>
        </p:txBody>
      </p:sp>
      <p:pic>
        <p:nvPicPr>
          <p:cNvPr id="5" name="outline"/>
          <p:cNvPicPr/>
          <p:nvPr/>
        </p:nvPicPr>
        <p:blipFill>
          <a:blip r:embed="rId2"/>
          <a:srcRect t="2454" b="2454"/>
          <a:stretch>
            <a:fillRect/>
          </a:stretch>
        </p:blipFill>
        <p:spPr>
          <a:xfrm rot="120000">
            <a:off x="8661400" y="660400"/>
            <a:ext cx="2921000" cy="2082800"/>
          </a:xfrm>
          <a:prstGeom prst="rect">
            <a:avLst/>
          </a:prstGeom>
          <a:ln>
            <a:noFill/>
          </a:ln>
        </p:spPr>
      </p:pic>
      <p:sp>
        <p:nvSpPr>
          <p:cNvPr id="6" name="r1"/>
          <p:cNvSpPr txBox="1"/>
          <p:nvPr/>
        </p:nvSpPr>
        <p:spPr>
          <a:xfrm>
            <a:off x="660400" y="19304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 b="1" spc="120" kern="0">
                <a:solidFill>
                  <a:srgbClr val="A6412D"/>
                </a:solidFill>
                <a:latin typeface="MiSans"/>
                <a:ea typeface="MiSans"/>
              </a:rPr>
              <a:t>路线 A</a:t>
            </a:r>
            <a:endParaRPr lang="en-US" sz="1600" noProof="1"/>
          </a:p>
        </p:txBody>
      </p:sp>
      <p:sp>
        <p:nvSpPr>
          <p:cNvPr id="7" name="a1"/>
          <p:cNvSpPr txBox="1"/>
          <p:nvPr/>
        </p:nvSpPr>
        <p:spPr>
          <a:xfrm>
            <a:off x="660400" y="25654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400" noProof="1" b="1" spc="0" kern="0">
                <a:solidFill>
                  <a:srgbClr val="191A17"/>
                </a:solidFill>
                <a:latin typeface="MiSans"/>
                <a:ea typeface="MiSans"/>
              </a:rPr>
              <a:t>美术风格确立</a:t>
            </a:r>
            <a:endParaRPr lang="en-US" sz="2400" noProof="1"/>
          </a:p>
        </p:txBody>
      </p:sp>
      <p:sp>
        <p:nvSpPr>
          <p:cNvPr id="8" name="a2"/>
          <p:cNvSpPr txBox="1"/>
          <p:nvPr/>
        </p:nvSpPr>
        <p:spPr>
          <a:xfrm>
            <a:off x="2997200" y="32004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400" noProof="1" b="1" spc="0" kern="0">
                <a:solidFill>
                  <a:srgbClr val="191A17"/>
                </a:solidFill>
                <a:latin typeface="MiSans"/>
                <a:ea typeface="MiSans"/>
              </a:rPr>
              <a:t>三维资产制作</a:t>
            </a:r>
            <a:endParaRPr lang="en-US" sz="2400" noProof="1"/>
          </a:p>
        </p:txBody>
      </p:sp>
      <p:sp>
        <p:nvSpPr>
          <p:cNvPr id="9" name="a3"/>
          <p:cNvSpPr txBox="1"/>
          <p:nvPr/>
        </p:nvSpPr>
        <p:spPr>
          <a:xfrm>
            <a:off x="5334000" y="38354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400" noProof="1" b="1" spc="0" kern="0">
                <a:solidFill>
                  <a:srgbClr val="191A17"/>
                </a:solidFill>
                <a:latin typeface="MiSans"/>
                <a:ea typeface="MiSans"/>
              </a:rPr>
              <a:t>三维场景搭建</a:t>
            </a:r>
            <a:endParaRPr lang="en-US" sz="2400" noProof="1"/>
          </a:p>
        </p:txBody>
      </p:sp>
      <p:sp>
        <p:nvSpPr>
          <p:cNvPr id="10" name="a4"/>
          <p:cNvSpPr txBox="1"/>
          <p:nvPr/>
        </p:nvSpPr>
        <p:spPr>
          <a:xfrm>
            <a:off x="7670800" y="4470400"/>
            <a:ext cx="266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2400" noProof="1" b="1" spc="0" kern="0">
                <a:solidFill>
                  <a:srgbClr val="A6412D"/>
                </a:solidFill>
                <a:latin typeface="MiSans"/>
                <a:ea typeface="MiSans"/>
              </a:rPr>
              <a:t>人物 NPC 制作</a:t>
            </a:r>
            <a:endParaRPr lang="en-US" sz="2400" noProof="1"/>
          </a:p>
        </p:txBody>
      </p:sp>
      <p:sp>
        <p:nvSpPr>
          <p:cNvPr id="11" name="route-a"/>
          <p:cNvSpPr/>
          <p:nvPr>
            <p:extLst>
              <p:ext uri="{F5677B7D-0D2A-4D9B-9A5C-6D8D7D0E5A5D}">
                <pptd:line encoding="base64url">eyJ2aWV3Qm94IjpbMSwxXSwicG9pbnRzIjoiMCwwIDEsMSIsImN1cnZlIjoic2hhcnAifQ</pptd:line>
              </p:ext>
            </p:extLst>
          </p:nvPr>
        </p:nvSpPr>
        <p:spPr>
          <a:xfrm>
            <a:off x="787400" y="2997200"/>
            <a:ext cx="9017000" cy="1955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1"/>
                </a:lnTo>
              </a:path>
            </a:pathLst>
          </a:custGeom>
          <a:noFill/>
          <a:ln w="25400">
            <a:solidFill>
              <a:srgbClr val="C8BFAF"/>
            </a:solidFill>
          </a:ln>
        </p:spPr>
      </p:sp>
      <p:sp>
        <p:nvSpPr>
          <p:cNvPr id="12" name="split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5334000"/>
            <a:ext cx="109220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191A17"/>
            </a:solidFill>
          </a:ln>
        </p:spPr>
      </p:sp>
      <p:sp>
        <p:nvSpPr>
          <p:cNvPr id="13" name="r2"/>
          <p:cNvSpPr txBox="1"/>
          <p:nvPr/>
        </p:nvSpPr>
        <p:spPr>
          <a:xfrm>
            <a:off x="660400" y="56388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 b="1" spc="120" kern="0">
                <a:solidFill>
                  <a:srgbClr val="A6412D"/>
                </a:solidFill>
                <a:latin typeface="MiSans"/>
                <a:ea typeface="MiSans"/>
              </a:rPr>
              <a:t>路线 B</a:t>
            </a:r>
            <a:endParaRPr lang="en-US" sz="1600" noProof="1"/>
          </a:p>
        </p:txBody>
      </p:sp>
      <p:sp>
        <p:nvSpPr>
          <p:cNvPr id="14" name="b"/>
          <p:cNvSpPr txBox="1"/>
          <p:nvPr/>
        </p:nvSpPr>
        <p:spPr>
          <a:xfrm>
            <a:off x="2362200" y="5562600"/>
            <a:ext cx="9220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2400" noProof="1" b="1" spc="0" kern="0">
                <a:solidFill>
                  <a:srgbClr val="191A17"/>
                </a:solidFill>
                <a:latin typeface="MiSans"/>
                <a:ea typeface="MiSans"/>
              </a:rPr>
              <a:t>商品调研  →  图片搜集  →  三维资产化  →  交互逻辑</a:t>
            </a:r>
            <a:endParaRPr lang="en-US" sz="24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8E1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1D5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09600" y="508000"/>
            <a:ext cx="6604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191A17"/>
                </a:solidFill>
                <a:latin typeface="MiSans"/>
                <a:ea typeface="MiSans"/>
              </a:rPr>
              <a:t>从讨论，到手绘</a:t>
            </a:r>
            <a:endParaRPr lang="en-US" sz="4400" noProof="1"/>
          </a:p>
        </p:txBody>
      </p:sp>
      <p:sp>
        <p:nvSpPr>
          <p:cNvPr id="4" name="label"/>
          <p:cNvSpPr txBox="1"/>
          <p:nvPr/>
        </p:nvSpPr>
        <p:spPr>
          <a:xfrm>
            <a:off x="660400" y="1371600"/>
            <a:ext cx="736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400" noProof="1" spc="0" kern="0">
                <a:solidFill>
                  <a:srgbClr val="6E6A61"/>
                </a:solidFill>
                <a:latin typeface="MiSans"/>
                <a:ea typeface="MiSans"/>
              </a:rPr>
              <a:t>团队日常 / 命题拆解 / 角色与商品草图</a:t>
            </a:r>
            <a:endParaRPr lang="en-US" sz="1400" noProof="1"/>
          </a:p>
        </p:txBody>
      </p:sp>
      <p:pic>
        <p:nvPicPr>
          <p:cNvPr id="5" name="discuss1"/>
          <p:cNvPicPr/>
          <p:nvPr/>
        </p:nvPicPr>
        <p:blipFill>
          <a:blip r:embed="rId2"/>
          <a:srcRect t="11194" b="11194"/>
          <a:stretch>
            <a:fillRect/>
          </a:stretch>
        </p:blipFill>
        <p:spPr>
          <a:xfrm rot="-120000">
            <a:off x="609600" y="1955800"/>
            <a:ext cx="3403600" cy="1981200"/>
          </a:xfrm>
          <a:prstGeom prst="rect">
            <a:avLst/>
          </a:prstGeom>
          <a:ln>
            <a:noFill/>
          </a:ln>
        </p:spPr>
      </p:pic>
      <p:pic>
        <p:nvPicPr>
          <p:cNvPr id="6" name="discuss2"/>
          <p:cNvPicPr/>
          <p:nvPr/>
        </p:nvPicPr>
        <p:blipFill>
          <a:blip r:embed="rId3"/>
          <a:srcRect t="23628" b="23628"/>
          <a:stretch>
            <a:fillRect/>
          </a:stretch>
        </p:blipFill>
        <p:spPr>
          <a:xfrm rot="120000">
            <a:off x="4191000" y="1803400"/>
            <a:ext cx="2997200" cy="2108200"/>
          </a:xfrm>
          <a:prstGeom prst="rect">
            <a:avLst/>
          </a:prstGeom>
          <a:ln>
            <a:noFill/>
          </a:ln>
        </p:spPr>
      </p:pic>
      <p:pic>
        <p:nvPicPr>
          <p:cNvPr id="7" name="discuss3"/>
          <p:cNvPicPr/>
          <p:nvPr/>
        </p:nvPicPr>
        <p:blipFill>
          <a:blip r:embed="rId4"/>
          <a:srcRect t="18485" b="18485"/>
          <a:stretch>
            <a:fillRect/>
          </a:stretch>
        </p:blipFill>
        <p:spPr>
          <a:xfrm rot="-60000">
            <a:off x="7391400" y="1955800"/>
            <a:ext cx="4191000" cy="1981200"/>
          </a:xfrm>
          <a:prstGeom prst="rect">
            <a:avLst/>
          </a:prstGeom>
          <a:ln>
            <a:noFill/>
          </a:ln>
        </p:spPr>
      </p:pic>
      <p:pic>
        <p:nvPicPr>
          <p:cNvPr id="8" name="sketch1"/>
          <p:cNvPicPr/>
          <p:nvPr/>
        </p:nvPicPr>
        <p:blipFill>
          <a:blip r:embed="rId5"/>
          <a:srcRect t="16036" b="16036"/>
          <a:stretch>
            <a:fillRect/>
          </a:stretch>
        </p:blipFill>
        <p:spPr>
          <a:xfrm rot="120000">
            <a:off x="838200" y="4241800"/>
            <a:ext cx="2159000" cy="1955800"/>
          </a:xfrm>
          <a:prstGeom prst="rect">
            <a:avLst/>
          </a:prstGeom>
          <a:ln>
            <a:noFill/>
          </a:ln>
        </p:spPr>
      </p:pic>
      <p:pic>
        <p:nvPicPr>
          <p:cNvPr id="9" name="sketch2"/>
          <p:cNvPicPr/>
          <p:nvPr/>
        </p:nvPicPr>
        <p:blipFill>
          <a:blip r:embed="rId6"/>
          <a:srcRect l="6490" r="6490"/>
          <a:stretch>
            <a:fillRect/>
          </a:stretch>
        </p:blipFill>
        <p:spPr>
          <a:xfrm rot="-120000">
            <a:off x="3251200" y="4140200"/>
            <a:ext cx="2387600" cy="2057400"/>
          </a:xfrm>
          <a:prstGeom prst="rect">
            <a:avLst/>
          </a:prstGeom>
          <a:ln>
            <a:noFill/>
          </a:ln>
        </p:spPr>
      </p:pic>
      <p:pic>
        <p:nvPicPr>
          <p:cNvPr id="10" name="sketch3"/>
          <p:cNvPicPr/>
          <p:nvPr/>
        </p:nvPicPr>
        <p:blipFill>
          <a:blip r:embed="rId7"/>
          <a:srcRect t="2564" b="2564"/>
          <a:stretch>
            <a:fillRect/>
          </a:stretch>
        </p:blipFill>
        <p:spPr>
          <a:xfrm rot="60000">
            <a:off x="5918200" y="4318000"/>
            <a:ext cx="2641600" cy="1879600"/>
          </a:xfrm>
          <a:prstGeom prst="rect">
            <a:avLst/>
          </a:prstGeom>
          <a:ln>
            <a:noFill/>
          </a:ln>
        </p:spPr>
      </p:pic>
      <p:pic>
        <p:nvPicPr>
          <p:cNvPr id="11" name="sketch4"/>
          <p:cNvPicPr/>
          <p:nvPr/>
        </p:nvPicPr>
        <p:blipFill>
          <a:blip r:embed="rId8"/>
          <a:srcRect l="4638" r="4638"/>
          <a:stretch>
            <a:fillRect/>
          </a:stretch>
        </p:blipFill>
        <p:spPr>
          <a:xfrm rot="-120000">
            <a:off x="8839200" y="4140200"/>
            <a:ext cx="2489200" cy="2057400"/>
          </a:xfrm>
          <a:prstGeom prst="rect">
            <a:avLst/>
          </a:prstGeom>
          <a:ln>
            <a:noFill/>
          </a:ln>
        </p:spPr>
      </p:pic>
      <p:sp>
        <p:nvSpPr>
          <p:cNvPr id="12" name="caption"/>
          <p:cNvSpPr txBox="1"/>
          <p:nvPr/>
        </p:nvSpPr>
        <p:spPr>
          <a:xfrm>
            <a:off x="660400" y="64008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 b="1" spc="0" kern="0">
                <a:solidFill>
                  <a:srgbClr val="A6412D"/>
                </a:solidFill>
                <a:latin typeface="MiSans"/>
                <a:ea typeface="MiSans"/>
              </a:rPr>
              <a:t>想法先被说出来，再被画下来，最后进入三维场景。</a:t>
            </a:r>
            <a:endParaRPr lang="en-US" sz="16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a"/>
          <p:cNvSpPr txBox="1"/>
          <p:nvPr/>
        </p:nvSpPr>
        <p:spPr>
          <a:xfrm>
            <a:off x="609600" y="304800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150" kern="0">
                <a:solidFill>
                  <a:srgbClr val="6E6A61"/>
                </a:solidFill>
                <a:latin typeface="MiSans"/>
                <a:ea typeface="MiSans"/>
              </a:rPr>
              <a:t>16  /  场景与角色制作</a:t>
            </a:r>
            <a:endParaRPr lang="en-US" sz="1000" noProof="1"/>
          </a:p>
        </p:txBody>
      </p:sp>
      <p:sp>
        <p:nvSpPr>
          <p:cNvPr id="3" name="brand"/>
          <p:cNvSpPr txBox="1"/>
          <p:nvPr/>
        </p:nvSpPr>
        <p:spPr>
          <a:xfrm>
            <a:off x="8763000" y="304800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1000" noProof="1" spc="100" kern="0">
                <a:solidFill>
                  <a:srgbClr val="6E6A61"/>
                </a:solidFill>
                <a:latin typeface="MiSans"/>
                <a:ea typeface="MiSans"/>
              </a:rPr>
              <a:t>义犹未尽 · 义乌三时市集</a:t>
            </a:r>
            <a:endParaRPr lang="en-US" sz="10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85800"/>
            <a:ext cx="762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 spc="0" kern="0">
                <a:solidFill>
                  <a:srgbClr val="191A17"/>
                </a:solidFill>
                <a:latin typeface="MiSans"/>
                <a:ea typeface="MiSans"/>
              </a:rPr>
              <a:t>把白模，变成街市</a:t>
            </a:r>
            <a:endParaRPr lang="en-US" sz="4400" noProof="1"/>
          </a:p>
        </p:txBody>
      </p:sp>
      <p:pic>
        <p:nvPicPr>
          <p:cNvPr id="5" name="white"/>
          <p:cNvPicPr/>
          <p:nvPr/>
        </p:nvPicPr>
        <p:blipFill>
          <a:blip r:embed="rId2"/>
          <a:srcRect t="3940" b="3940"/>
          <a:stretch>
            <a:fillRect/>
          </a:stretch>
        </p:blipFill>
        <p:spPr>
          <a:xfrm>
            <a:off x="609600" y="1752600"/>
            <a:ext cx="5207000" cy="2997200"/>
          </a:xfrm>
          <a:prstGeom prst="rect">
            <a:avLst/>
          </a:prstGeom>
          <a:ln>
            <a:noFill/>
          </a:ln>
        </p:spPr>
      </p:pic>
      <p:pic>
        <p:nvPicPr>
          <p:cNvPr id="6" name="color"/>
          <p:cNvPicPr/>
          <p:nvPr/>
        </p:nvPicPr>
        <p:blipFill>
          <a:blip r:embed="rId3"/>
          <a:srcRect l="480" r="480"/>
          <a:stretch>
            <a:fillRect/>
          </a:stretch>
        </p:blipFill>
        <p:spPr>
          <a:xfrm>
            <a:off x="6070600" y="1422400"/>
            <a:ext cx="5511800" cy="3327400"/>
          </a:xfrm>
          <a:prstGeom prst="rect">
            <a:avLst/>
          </a:prstGeom>
          <a:ln>
            <a:noFill/>
          </a:ln>
        </p:spPr>
      </p:pic>
      <p:sp>
        <p:nvSpPr>
          <p:cNvPr id="7" name="before"/>
          <p:cNvSpPr txBox="1"/>
          <p:nvPr/>
        </p:nvSpPr>
        <p:spPr>
          <a:xfrm>
            <a:off x="660400" y="4876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 spc="0" kern="0">
                <a:solidFill>
                  <a:srgbClr val="6E6A61"/>
                </a:solidFill>
                <a:latin typeface="MiSans"/>
                <a:ea typeface="MiSans"/>
              </a:rPr>
              <a:t>白模 / 空间结构</a:t>
            </a:r>
            <a:endParaRPr lang="en-US" sz="1600" noProof="1"/>
          </a:p>
        </p:txBody>
      </p:sp>
      <p:sp>
        <p:nvSpPr>
          <p:cNvPr id="8" name="after"/>
          <p:cNvSpPr txBox="1"/>
          <p:nvPr/>
        </p:nvSpPr>
        <p:spPr>
          <a:xfrm>
            <a:off x="6146800" y="4876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 b="1" spc="0" kern="0">
                <a:solidFill>
                  <a:srgbClr val="A6412D"/>
                </a:solidFill>
                <a:latin typeface="MiSans"/>
                <a:ea typeface="MiSans"/>
              </a:rPr>
              <a:t>着色 / 材质与氛围</a:t>
            </a:r>
            <a:endParaRPr lang="en-US" sz="1600" noProof="1"/>
          </a:p>
        </p:txBody>
      </p:sp>
      <p:sp>
        <p:nvSpPr>
          <p:cNvPr id="9" name="bottom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09600" y="5435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191A17"/>
            </a:solidFill>
          </a:ln>
        </p:spPr>
      </p:sp>
      <p:pic>
        <p:nvPicPr>
          <p:cNvPr id="10" name="npc"/>
          <p:cNvPicPr/>
          <p:nvPr/>
        </p:nvPicPr>
        <p:blipFill>
          <a:blip r:embed="rId4"/>
          <a:srcRect t="13529" b="13529"/>
          <a:stretch>
            <a:fillRect/>
          </a:stretch>
        </p:blipFill>
        <p:spPr>
          <a:xfrm>
            <a:off x="609600" y="5638800"/>
            <a:ext cx="2235200" cy="939800"/>
          </a:xfrm>
          <a:prstGeom prst="rect">
            <a:avLst/>
          </a:prstGeom>
          <a:ln>
            <a:noFill/>
          </a:ln>
        </p:spPr>
      </p:pic>
      <p:pic>
        <p:nvPicPr>
          <p:cNvPr id="11" name="npc2"/>
          <p:cNvPicPr/>
          <p:nvPr/>
        </p:nvPicPr>
        <p:blipFill>
          <a:blip r:embed="rId5"/>
          <a:srcRect t="12794" b="12794"/>
          <a:stretch>
            <a:fillRect/>
          </a:stretch>
        </p:blipFill>
        <p:spPr>
          <a:xfrm>
            <a:off x="3022600" y="5638800"/>
            <a:ext cx="2235200" cy="939800"/>
          </a:xfrm>
          <a:prstGeom prst="rect">
            <a:avLst/>
          </a:prstGeom>
          <a:ln>
            <a:noFill/>
          </a:ln>
        </p:spPr>
      </p:pic>
      <p:sp>
        <p:nvSpPr>
          <p:cNvPr id="12" name="steps"/>
          <p:cNvSpPr txBox="1"/>
          <p:nvPr/>
        </p:nvSpPr>
        <p:spPr>
          <a:xfrm>
            <a:off x="5664200" y="5816600"/>
            <a:ext cx="5918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15000"/>
              </a:lnSpc>
            </a:pPr>
            <a:r>
              <a:rPr lang="en-US" sz="2100" noProof="1" b="1" spc="0" kern="0">
                <a:solidFill>
                  <a:srgbClr val="191A17"/>
                </a:solidFill>
                <a:latin typeface="MiSans"/>
                <a:ea typeface="MiSans"/>
              </a:rPr>
              <a:t>场景搭建   ·   材质统一   ·   灯光调试   ·   角色放入</a:t>
            </a:r>
            <a:endParaRPr lang="en-US" sz="21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B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520"/>
          </a:solidFill>
          <a:ln>
            <a:noFill/>
          </a:ln>
        </p:spPr>
      </p:sp>
      <p:sp>
        <p:nvSpPr>
          <p:cNvPr id="3" name="meta"/>
          <p:cNvSpPr txBox="1"/>
          <p:nvPr/>
        </p:nvSpPr>
        <p:spPr>
          <a:xfrm>
            <a:off x="609600" y="3302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000" noProof="1" spc="150" kern="0">
                <a:solidFill>
                  <a:srgbClr val="F4E8CF"/>
                </a:solidFill>
                <a:latin typeface="MiSans"/>
                <a:ea typeface="MiSans"/>
              </a:rPr>
              <a:t>17  /  技术实现</a:t>
            </a:r>
            <a:endParaRPr lang="en-US" sz="10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89000"/>
            <a:ext cx="7112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4600" noProof="1" b="1" spc="0" kern="0">
                <a:solidFill>
                  <a:srgbClr val="F4E8CF"/>
                </a:solidFill>
                <a:latin typeface="MiSans"/>
                <a:ea typeface="MiSans"/>
              </a:rPr>
              <a:t>轻量，也能完整</a:t>
            </a:r>
            <a:endParaRPr lang="en-US" sz="4600" noProof="1"/>
          </a:p>
        </p:txBody>
      </p:sp>
      <p:sp>
        <p:nvSpPr>
          <p:cNvPr id="5" name="lead"/>
          <p:cNvSpPr txBox="1"/>
          <p:nvPr/>
        </p:nvSpPr>
        <p:spPr>
          <a:xfrm>
            <a:off x="660400" y="1854200"/>
            <a:ext cx="825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 spc="0" kern="0">
                <a:solidFill>
                  <a:srgbClr val="D99A52"/>
                </a:solidFill>
                <a:latin typeface="MiSans"/>
                <a:ea typeface="MiSans"/>
              </a:rPr>
              <a:t>AIGC 辅助资产生产，Three.js 完成网页交互。</a:t>
            </a:r>
            <a:endParaRPr lang="en-US" sz="1900" noProof="1"/>
          </a:p>
        </p:txBody>
      </p:sp>
      <p:sp>
        <p:nvSpPr>
          <p:cNvPr id="6" name="top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2590800"/>
            <a:ext cx="108712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D99A52"/>
            </a:solidFill>
          </a:ln>
        </p:spPr>
      </p:sp>
      <p:sp>
        <p:nvSpPr>
          <p:cNvPr id="7" name="three"/>
          <p:cNvSpPr txBox="1"/>
          <p:nvPr/>
        </p:nvSpPr>
        <p:spPr>
          <a:xfrm>
            <a:off x="660400" y="3022600"/>
            <a:ext cx="381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3800" noProof="1" b="1" spc="0" kern="0">
                <a:solidFill>
                  <a:srgbClr val="F4E8CF"/>
                </a:solidFill>
                <a:latin typeface="MiSans"/>
                <a:ea typeface="MiSans"/>
              </a:rPr>
              <a:t>Three.js</a:t>
            </a:r>
            <a:endParaRPr lang="en-US" sz="3800" noProof="1"/>
          </a:p>
        </p:txBody>
      </p:sp>
      <p:sp>
        <p:nvSpPr>
          <p:cNvPr id="8" name="three-s"/>
          <p:cNvSpPr txBox="1"/>
          <p:nvPr/>
        </p:nvSpPr>
        <p:spPr>
          <a:xfrm>
            <a:off x="660400" y="37592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600" noProof="1" spc="0" kern="0">
                <a:solidFill>
                  <a:srgbClr val="F4E8CF"/>
                </a:solidFill>
                <a:latin typeface="MiSans"/>
                <a:ea typeface="MiSans"/>
              </a:rPr>
              <a:t>三维总览 / 角色漫游 / 摊位与商品交互</a:t>
            </a:r>
            <a:endParaRPr lang="en-US" sz="1600" noProof="1"/>
          </a:p>
        </p:txBody>
      </p:sp>
      <p:sp>
        <p:nvSpPr>
          <p:cNvPr id="9" name="blender"/>
          <p:cNvSpPr txBox="1"/>
          <p:nvPr/>
        </p:nvSpPr>
        <p:spPr>
          <a:xfrm>
            <a:off x="5689600" y="3022600"/>
            <a:ext cx="304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3800" noProof="1" b="1" spc="0" kern="0">
                <a:solidFill>
                  <a:srgbClr val="F4E8CF"/>
                </a:solidFill>
                <a:latin typeface="MiSans"/>
                <a:ea typeface="MiSans"/>
              </a:rPr>
              <a:t>Blender</a:t>
            </a:r>
            <a:endParaRPr lang="en-US" sz="3800" noProof="1"/>
          </a:p>
        </p:txBody>
      </p:sp>
      <p:sp>
        <p:nvSpPr>
          <p:cNvPr id="10" name="blender-s"/>
          <p:cNvSpPr txBox="1"/>
          <p:nvPr/>
        </p:nvSpPr>
        <p:spPr>
          <a:xfrm>
            <a:off x="5689600" y="3759200"/>
            <a:ext cx="3810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600" noProof="1" spc="0" kern="0">
                <a:solidFill>
                  <a:srgbClr val="F4E8CF"/>
                </a:solidFill>
                <a:latin typeface="MiSans"/>
                <a:ea typeface="MiSans"/>
              </a:rPr>
              <a:t>模型制作 / 场景搭建 / 材质灯光</a:t>
            </a:r>
            <a:endParaRPr lang="en-US" sz="1600" noProof="1"/>
          </a:p>
        </p:txBody>
      </p:sp>
      <p:sp>
        <p:nvSpPr>
          <p:cNvPr id="11" name="aigc"/>
          <p:cNvSpPr txBox="1"/>
          <p:nvPr/>
        </p:nvSpPr>
        <p:spPr>
          <a:xfrm>
            <a:off x="9220200" y="3022600"/>
            <a:ext cx="2362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15000"/>
              </a:lnSpc>
            </a:pPr>
            <a:r>
              <a:rPr lang="en-US" sz="3200" noProof="1" b="1" spc="0" kern="0">
                <a:solidFill>
                  <a:srgbClr val="D99A52"/>
                </a:solidFill>
                <a:latin typeface="MiSans"/>
                <a:ea typeface="MiSans"/>
              </a:rPr>
              <a:t>AIGC + GLB</a:t>
            </a:r>
            <a:endParaRPr lang="en-US" sz="3200" noProof="1"/>
          </a:p>
        </p:txBody>
      </p:sp>
      <p:sp>
        <p:nvSpPr>
          <p:cNvPr id="12" name="aigc-s"/>
          <p:cNvSpPr txBox="1"/>
          <p:nvPr/>
        </p:nvSpPr>
        <p:spPr>
          <a:xfrm>
            <a:off x="8940800" y="3759200"/>
            <a:ext cx="264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50000"/>
              </a:lnSpc>
            </a:pPr>
            <a:r>
              <a:rPr lang="en-US" sz="1600" noProof="1" spc="0" kern="0">
                <a:solidFill>
                  <a:srgbClr val="F4E8CF"/>
                </a:solidFill>
                <a:latin typeface="MiSans"/>
                <a:ea typeface="MiSans"/>
              </a:rPr>
              <a:t>角色与商品辅助生成
网页三维资产流转</a:t>
            </a:r>
            <a:endParaRPr lang="en-US" sz="1600" noProof="1"/>
          </a:p>
        </p:txBody>
      </p:sp>
      <p:sp>
        <p:nvSpPr>
          <p:cNvPr id="13" name="bottom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60400" y="5003800"/>
            <a:ext cx="108712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132638"/>
            </a:solidFill>
          </a:ln>
        </p:spPr>
      </p:sp>
      <p:sp>
        <p:nvSpPr>
          <p:cNvPr id="14" name="value"/>
          <p:cNvSpPr txBox="1"/>
          <p:nvPr/>
        </p:nvSpPr>
        <p:spPr>
          <a:xfrm>
            <a:off x="660400" y="5461000"/>
            <a:ext cx="1087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15000"/>
              </a:lnSpc>
            </a:pPr>
            <a:r>
              <a:rPr lang="en-US" sz="2500" noProof="1" b="1" spc="0" kern="0">
                <a:solidFill>
                  <a:srgbClr val="F4E8CF"/>
                </a:solidFill>
                <a:latin typeface="MiSans"/>
                <a:ea typeface="MiSans"/>
              </a:rPr>
              <a:t>浏览器进入   ·   无需 VR 设备   ·   便于分享</a:t>
            </a:r>
            <a:endParaRPr lang="en-US" sz="2500" noProof="1"/>
          </a:p>
        </p:txBody>
      </p:sp>
      <p:sp>
        <p:nvSpPr>
          <p:cNvPr id="15" name="foot"/>
          <p:cNvSpPr txBox="1"/>
          <p:nvPr/>
        </p:nvSpPr>
        <p:spPr>
          <a:xfrm>
            <a:off x="660400" y="6197600"/>
            <a:ext cx="1087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5000"/>
              </a:lnSpc>
            </a:pPr>
            <a:r>
              <a:rPr lang="en-US" sz="1300" noProof="1" spc="200" kern="0">
                <a:solidFill>
                  <a:srgbClr val="D99A52"/>
                </a:solidFill>
                <a:latin typeface="MiSans"/>
                <a:ea typeface="MiSans"/>
              </a:rPr>
              <a:t>空间叙事 / 互动体验 / 品牌传播</a:t>
            </a:r>
            <a:endParaRPr lang="en-US" sz="13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-band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A6412D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35000" y="1117600"/>
            <a:ext cx="5969000" cy="213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6200" noProof="1" b="1" spc="0" kern="0">
                <a:solidFill>
                  <a:srgbClr val="191A17"/>
                </a:solidFill>
                <a:latin typeface="MiSans"/>
                <a:ea typeface="MiSans"/>
              </a:rPr>
              <a:t>一日三市
义犹未尽</a:t>
            </a:r>
            <a:endParaRPr lang="en-US" sz="6200" noProof="1"/>
          </a:p>
        </p:txBody>
      </p:sp>
      <p:sp>
        <p:nvSpPr>
          <p:cNvPr id="4" name="sub"/>
          <p:cNvSpPr txBox="1"/>
          <p:nvPr/>
        </p:nvSpPr>
        <p:spPr>
          <a:xfrm>
            <a:off x="685800" y="3759200"/>
            <a:ext cx="635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2300" noProof="1" b="1" spc="0" kern="0">
                <a:solidFill>
                  <a:srgbClr val="A6412D"/>
                </a:solidFill>
                <a:latin typeface="MiSans"/>
                <a:ea typeface="MiSans"/>
              </a:rPr>
              <a:t>让义乌小商品，在可漫游的国风市集中被看见。</a:t>
            </a:r>
            <a:endParaRPr lang="en-US" sz="2300" noProof="1"/>
          </a:p>
        </p:txBody>
      </p:sp>
      <p:sp>
        <p:nvSpPr>
          <p:cNvPr id="5" name="rul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85800" y="5080000"/>
            <a:ext cx="4064000" cy="25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191A17"/>
            </a:solidFill>
          </a:ln>
        </p:spPr>
      </p:sp>
      <p:sp>
        <p:nvSpPr>
          <p:cNvPr id="6" name="thanks"/>
          <p:cNvSpPr txBox="1"/>
          <p:nvPr/>
        </p:nvSpPr>
        <p:spPr>
          <a:xfrm>
            <a:off x="685800" y="5461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15000"/>
              </a:lnSpc>
            </a:pPr>
            <a:r>
              <a:rPr lang="en-US" sz="1800" noProof="1" spc="0" kern="0">
                <a:solidFill>
                  <a:srgbClr val="6E6A61"/>
                </a:solidFill>
                <a:latin typeface="MiSans"/>
                <a:ea typeface="MiSans"/>
              </a:rPr>
              <a:t>谢谢观看  /  敬请指正</a:t>
            </a:r>
            <a:endParaRPr lang="en-US" sz="1800" noProof="1"/>
          </a:p>
        </p:txBody>
      </p:sp>
      <p:pic>
        <p:nvPicPr>
          <p:cNvPr id="7" name="market"/>
          <p:cNvPicPr/>
          <p:nvPr/>
        </p:nvPicPr>
        <p:blipFill>
          <a:blip r:embed="rId2"/>
          <a:srcRect t="-23872" b="-23872"/>
          <a:stretch>
            <a:fillRect/>
          </a:stretch>
        </p:blipFill>
        <p:spPr>
          <a:xfrm>
            <a:off x="5892800" y="584200"/>
            <a:ext cx="5969000" cy="5511800"/>
          </a:xfrm>
          <a:prstGeom prst="rect">
            <a:avLst/>
          </a:prstGeom>
          <a:ln>
            <a:noFill/>
          </a:ln>
        </p:spPr>
      </p:pic>
      <p:sp>
        <p:nvSpPr>
          <p:cNvPr id="8" name="seal"/>
          <p:cNvSpPr txBox="1"/>
          <p:nvPr/>
        </p:nvSpPr>
        <p:spPr>
          <a:xfrm>
            <a:off x="10744200" y="57658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15000"/>
              </a:lnSpc>
            </a:pPr>
            <a:r>
              <a:rPr lang="en-US" sz="2800" noProof="1" b="1" spc="0" kern="0">
                <a:solidFill>
                  <a:srgbClr val="A6412D"/>
                </a:solidFill>
                <a:latin typeface="MiSans"/>
                <a:ea typeface="MiSans"/>
              </a:rPr>
              <a:t>义</a:t>
            </a:r>
            <a:endParaRPr lang="en-US" sz="2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18</Slides>
</Properties>
</file>

<file path=docProps/core.xml><?xml version="1.0" encoding="utf-8"?>
<cp:coreProperties xmlns:dc="http://purl.org/dc/elements/1.1/" xmlns:cp="http://schemas.openxmlformats.org/package/2006/metadata/core-properties">
  <dc:title>yiwu_defense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