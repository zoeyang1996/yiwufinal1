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31ecdec8647d8" /><Relationship Type="http://schemas.openxmlformats.org/officeDocument/2006/relationships/extended-properties" Target="/docProps/app.xml" Id="R1f984a04c27544bc" /><Relationship Type="http://schemas.openxmlformats.org/officeDocument/2006/relationships/officeDocument" Target="/ppt/presentation.xml" Id="Rb3234b0b9e72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7517fdacb64dc5"/>
  </p:sldMasterIdLst>
  <p:notesMasterIdLst>
    <p:notesMasterId xmlns:r="http://schemas.openxmlformats.org/officeDocument/2006/relationships" r:id="R49c496f594c74daa"/>
  </p:notesMasterIdLst>
  <p:sldIdLst>
    <p:sldId xmlns:r="http://schemas.openxmlformats.org/officeDocument/2006/relationships" id="256" r:id="R77f7410d28404b83"/>
    <p:sldId xmlns:r="http://schemas.openxmlformats.org/officeDocument/2006/relationships" id="257" r:id="R8b045abbc7474f89"/>
    <p:sldId xmlns:r="http://schemas.openxmlformats.org/officeDocument/2006/relationships" id="258" r:id="Rf15dd9fc09044106"/>
    <p:sldId xmlns:r="http://schemas.openxmlformats.org/officeDocument/2006/relationships" id="259" r:id="R6e2aa8d359d943f8"/>
    <p:sldId xmlns:r="http://schemas.openxmlformats.org/officeDocument/2006/relationships" id="260" r:id="R7ed7bc3c060949f3"/>
    <p:sldId xmlns:r="http://schemas.openxmlformats.org/officeDocument/2006/relationships" id="261" r:id="R7004b01b71574370"/>
    <p:sldId xmlns:r="http://schemas.openxmlformats.org/officeDocument/2006/relationships" id="262" r:id="R87338f143f9742a0"/>
    <p:sldId xmlns:r="http://schemas.openxmlformats.org/officeDocument/2006/relationships" id="263" r:id="R3625b85bd4ba4399"/>
    <p:sldId xmlns:r="http://schemas.openxmlformats.org/officeDocument/2006/relationships" id="264" r:id="R7096b58503424dc0"/>
    <p:sldId xmlns:r="http://schemas.openxmlformats.org/officeDocument/2006/relationships" id="265" r:id="R4780d6273aec4037"/>
    <p:sldId xmlns:r="http://schemas.openxmlformats.org/officeDocument/2006/relationships" id="266" r:id="Rcff3f83a50114e9d"/>
    <p:sldId xmlns:r="http://schemas.openxmlformats.org/officeDocument/2006/relationships" id="267" r:id="R4bd1e93fac8c4906"/>
    <p:sldId xmlns:r="http://schemas.openxmlformats.org/officeDocument/2006/relationships" id="268" r:id="R99eba5d4b0d64ba9"/>
    <p:sldId xmlns:r="http://schemas.openxmlformats.org/officeDocument/2006/relationships" id="269" r:id="R11ba683c1b6a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7cca13fc14482" /><Relationship Type="http://schemas.openxmlformats.org/officeDocument/2006/relationships/slideMaster" Target="/ppt/slideMasters/slideMaster1.xml" Id="R0a7517fdacb64dc5" /><Relationship Type="http://schemas.openxmlformats.org/officeDocument/2006/relationships/notesMaster" Target="/ppt/notesMasters/notesMaster1.xml" Id="R49c496f594c74daa" /><Relationship Type="http://schemas.openxmlformats.org/officeDocument/2006/relationships/presProps" Target="/ppt/presProps.xml" Id="R89a77b0006b04270" /><Relationship Type="http://schemas.openxmlformats.org/officeDocument/2006/relationships/tableStyles" Target="/ppt/tableStyles.xml" Id="R5f57f9b77a4b4fc7" /><Relationship Type="http://schemas.openxmlformats.org/officeDocument/2006/relationships/slide" Target="/ppt/slides/slide1.xml" Id="R77f7410d28404b83" /><Relationship Type="http://schemas.openxmlformats.org/officeDocument/2006/relationships/slide" Target="/ppt/slides/slide2.xml" Id="R8b045abbc7474f89" /><Relationship Type="http://schemas.openxmlformats.org/officeDocument/2006/relationships/slide" Target="/ppt/slides/slide3.xml" Id="Rf15dd9fc09044106" /><Relationship Type="http://schemas.openxmlformats.org/officeDocument/2006/relationships/slide" Target="/ppt/slides/slide4.xml" Id="R6e2aa8d359d943f8" /><Relationship Type="http://schemas.openxmlformats.org/officeDocument/2006/relationships/slide" Target="/ppt/slides/slide5.xml" Id="R7ed7bc3c060949f3" /><Relationship Type="http://schemas.openxmlformats.org/officeDocument/2006/relationships/slide" Target="/ppt/slides/slide6.xml" Id="R7004b01b71574370" /><Relationship Type="http://schemas.openxmlformats.org/officeDocument/2006/relationships/slide" Target="/ppt/slides/slide7.xml" Id="R87338f143f9742a0" /><Relationship Type="http://schemas.openxmlformats.org/officeDocument/2006/relationships/slide" Target="/ppt/slides/slide8.xml" Id="R3625b85bd4ba4399" /><Relationship Type="http://schemas.openxmlformats.org/officeDocument/2006/relationships/slide" Target="/ppt/slides/slide9.xml" Id="R7096b58503424dc0" /><Relationship Type="http://schemas.openxmlformats.org/officeDocument/2006/relationships/slide" Target="/ppt/slides/slide10.xml" Id="R4780d6273aec4037" /><Relationship Type="http://schemas.openxmlformats.org/officeDocument/2006/relationships/slide" Target="/ppt/slides/slide11.xml" Id="Rcff3f83a50114e9d" /><Relationship Type="http://schemas.openxmlformats.org/officeDocument/2006/relationships/slide" Target="/ppt/slides/slide12.xml" Id="R4bd1e93fac8c4906" /><Relationship Type="http://schemas.openxmlformats.org/officeDocument/2006/relationships/slide" Target="/ppt/slides/slide13.xml" Id="R99eba5d4b0d64ba9" /><Relationship Type="http://schemas.openxmlformats.org/officeDocument/2006/relationships/slide" Target="/ppt/slides/slide14.xml" Id="R11ba683c1b6a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d9b0004b5a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757eed11e47ba" /><Relationship Type="http://schemas.openxmlformats.org/officeDocument/2006/relationships/notesMaster" Target="/ppt/notesMasters/notesMaster1.xml" Id="R52159a4fbf6b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a8b398cfa4ac5" /><Relationship Type="http://schemas.openxmlformats.org/officeDocument/2006/relationships/notesMaster" Target="/ppt/notesMasters/notesMaster1.xml" Id="Rc93cff6f3b86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7605779004174" /><Relationship Type="http://schemas.openxmlformats.org/officeDocument/2006/relationships/notesMaster" Target="/ppt/notesMasters/notesMaster1.xml" Id="R5712786e619246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eb2a4a0f64248" /><Relationship Type="http://schemas.openxmlformats.org/officeDocument/2006/relationships/notesMaster" Target="/ppt/notesMasters/notesMaster1.xml" Id="R0b0dcb2e874846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ec2375cb14e76" /><Relationship Type="http://schemas.openxmlformats.org/officeDocument/2006/relationships/notesMaster" Target="/ppt/notesMasters/notesMaster1.xml" Id="R1b0a955579664f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af64bdb21f47d6" /><Relationship Type="http://schemas.openxmlformats.org/officeDocument/2006/relationships/notesMaster" Target="/ppt/notesMasters/notesMaster1.xml" Id="R13ead3f0c1f6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79f7bffaa9480a" /><Relationship Type="http://schemas.openxmlformats.org/officeDocument/2006/relationships/notesMaster" Target="/ppt/notesMasters/notesMaster1.xml" Id="R9a4a81432ff840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c13057797456e" /><Relationship Type="http://schemas.openxmlformats.org/officeDocument/2006/relationships/notesMaster" Target="/ppt/notesMasters/notesMaster1.xml" Id="Rbfa0d8d2a7d140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1ce1b6b384247" /><Relationship Type="http://schemas.openxmlformats.org/officeDocument/2006/relationships/notesMaster" Target="/ppt/notesMasters/notesMaster1.xml" Id="Re97325e2b68442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01598a5a14944" /><Relationship Type="http://schemas.openxmlformats.org/officeDocument/2006/relationships/notesMaster" Target="/ppt/notesMasters/notesMaster1.xml" Id="Rfdab896d74a34e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e6eafadbb744b2" /><Relationship Type="http://schemas.openxmlformats.org/officeDocument/2006/relationships/notesMaster" Target="/ppt/notesMasters/notesMaster1.xml" Id="Rc44944e582124a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ead8bb463b4779" /><Relationship Type="http://schemas.openxmlformats.org/officeDocument/2006/relationships/notesMaster" Target="/ppt/notesMasters/notesMaster1.xml" Id="Rbe8ce7b20a0f46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d337b81c3f4b4c" /><Relationship Type="http://schemas.openxmlformats.org/officeDocument/2006/relationships/notesMaster" Target="/ppt/notesMasters/notesMaster1.xml" Id="Rc7afd33136db4b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8e638514694ae7" /><Relationship Type="http://schemas.openxmlformats.org/officeDocument/2006/relationships/notesMaster" Target="/ppt/notesMasters/notesMaster1.xml" Id="R020b085d0359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作品封面：义犹未尽，义乌三时市集。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一句话概览作品：用户可以进入早、午、夜三个主题市集，通过漫游和商品观察体验义乌小商品的展陈。数量来自当前配置。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回应命题的方式是将小商品置入具有国风视觉特征的街巷、摊铺与器物陈列中。国潮表达来自空间组织与视觉转译，不将通用古风视作义乌地方文化考据。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本页解释元素与设计决策的对应关系。场景图属于作品资产，不冒充外部参考照片。街巷提供路径，布幌帮助识别摊铺，器物引导近距离观察。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选择三时，是为了用观众熟悉的一天建立观看顺序，同时让展品类型与光色氛围发生变化。三时并非单纯换色，而是不同商品、摊位与情绪的组合。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功能分区为三个时段市集，每区三个可访摊位。观众先选时段，再在场景中移动，通过摊位近景查看商品，关闭预览回到摊位，退出摊位回到漫游。本页说明真实浏览动线，非测绘平面图。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三时场景对比说明色彩、灯光和展示侧重点。早市偏暖柔和，午市明亮，夜市用冷环境与暖灯形成差异。使用项目实际场景素材，不包含未经测量的照度数值。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商品与陈列位置共同形成文化语境：茶器对应饮茶，扇子对应纳凉与装饰，时钟对应古董器物陈列。商品模型借助 Tripo AI 生成，不以此宣称传统工艺真实性或非遗来源。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完整交互链路：角色漫游，进入摊位，镜头靠近摊主并展示商品，打开商品预览旋转缩放，关闭后保持摊位近景，退出摊位恢复漫游。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网页使用宋体与楷体回退字体族。配色依据 css/base.css。镜头缓动、商品栏和关闭返回逻辑来自现有项目。商品预览包含旋转缩放，购物车仅为演示。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现有项目包含 Blender 场景文件及网页三维资产。左图为从现有模型去材质重新渲染的结构视图，右图是网页成品。真实早期白模与阶段截图未提供，因此不把此对比声称为历史制作过程。商品与人物采用 Tripo AI 生成，随后接入网页场景与交互。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用户确认商品和人物借助 Tripo AI 生成。尚未确认场景资产来源、逐项人工修改与团队分工，不将所有模型标为自主建模。项目记录了摊位镜头、商品方向、窄屏购买区和关闭层级等调整；fan-interaction-checks.json包含17项通过记录，为历史测试记录，不代表本次重跑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创新点是以时间组织展陈并采用由空间到器物的分层观看。可行性证据包括已有网页、资产配置、交互检查记录和PUBLISHING.md中的发布记录。未在本轮核验线上站点当前状态。展会触屏等为后续应用设想，仍需设备适配与完整验收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总结：用三时叙事组织空间，让观众在漫游与器物细看中体验义乌小商品国潮虚拟展陈。</a:t>
            </a:r>
          </a:p>
          <a:p xmlns:a="http://schemas.openxmlformats.org/drawingml/2006/main">
            <a:r>
              <a:t>资料依据：项目设计框架、js/data/phases.js、js/data/products.js、assets/markets/README.md、previews/markets/fan-interaction-notes.md 与 fan-interaction-checks.json、PUBLISHING.md。商品和人物模型借助 Tripo AI 生成，由用户确认。场景来源与人工修改范围尚待确认。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9298e188f44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d95cd0f1a47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5b85ec60646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013e4df1940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32ff4a3ce4b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87309e0d142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E6B1EF-2F1D-4CE6-99DA-975BCCA76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CAA9A7-4E83-4434-97DD-92485A9876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3F26A8-C17F-4B1D-8956-B3D93C0CE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813E0-B32C-4854-9963-E8A0176AB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D9134B-D604-43B1-9189-470DC8F5CA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3F7D91-A2BB-4E4D-9F0D-56B9B5A0A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1E4141-5A3D-45C2-AA14-81B33B01F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E247A8-D1A2-4CD0-B7E0-80F485142F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B87660-2B12-4B12-BD8A-D4D3FB5D3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6B2A13-E831-471B-BCDD-66A582025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a88a0ef534715" /><Relationship Type="http://schemas.openxmlformats.org/officeDocument/2006/relationships/slideLayout" Target="/ppt/slideLayouts/slideLayout1.xml" Id="Rf2e19053426e4dee" /><Relationship Type="http://schemas.openxmlformats.org/officeDocument/2006/relationships/slideLayout" Target="/ppt/slideLayouts/slideLayout2.xml" Id="Rcc90548aa93c4d7b" /><Relationship Type="http://schemas.openxmlformats.org/officeDocument/2006/relationships/slideLayout" Target="/ppt/slideLayouts/slideLayout3.xml" Id="Re30c549a8608412c" /><Relationship Type="http://schemas.openxmlformats.org/officeDocument/2006/relationships/slideLayout" Target="/ppt/slideLayouts/slideLayout4.xml" Id="Rf84684dcf71946a3" /><Relationship Type="http://schemas.openxmlformats.org/officeDocument/2006/relationships/slideLayout" Target="/ppt/slideLayouts/slideLayout5.xml" Id="R04f248a8c6a9431c" /><Relationship Type="http://schemas.openxmlformats.org/officeDocument/2006/relationships/slideLayout" Target="/ppt/slideLayouts/slideLayout6.xml" Id="Rf4954fa6738d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19053426e4dee"/>
    <p:sldLayoutId xmlns:r="http://schemas.openxmlformats.org/officeDocument/2006/relationships" id="2147483650" r:id="Rcc90548aa93c4d7b"/>
    <p:sldLayoutId xmlns:r="http://schemas.openxmlformats.org/officeDocument/2006/relationships" id="2147483651" r:id="Re30c549a8608412c"/>
    <p:sldLayoutId xmlns:r="http://schemas.openxmlformats.org/officeDocument/2006/relationships" id="2147483652" r:id="Rf84684dcf71946a3"/>
    <p:sldLayoutId xmlns:r="http://schemas.openxmlformats.org/officeDocument/2006/relationships" id="2147483653" r:id="R04f248a8c6a9431c"/>
    <p:sldLayoutId xmlns:r="http://schemas.openxmlformats.org/officeDocument/2006/relationships" id="2147483654" r:id="Rf4954fa6738d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7b7dbd0ca4b40" /><Relationship Type="http://schemas.openxmlformats.org/officeDocument/2006/relationships/image" Target="/ppt/media/image.png" Id="R83e5540be1e3405b" /><Relationship Type="http://schemas.openxmlformats.org/officeDocument/2006/relationships/notesSlide" Target="/ppt/notesSlides/notesSlide1.xml" Id="Rc00da6f036f3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583751031451f" /><Relationship Type="http://schemas.openxmlformats.org/officeDocument/2006/relationships/image" Target="/ppt/media/image2.png" Id="Ra4dfdad284b54d73" /><Relationship Type="http://schemas.openxmlformats.org/officeDocument/2006/relationships/image" Target="/ppt/media/image3.png" Id="Rfe849dadb4af40aa" /><Relationship Type="http://schemas.openxmlformats.org/officeDocument/2006/relationships/image" Target="/ppt/media/image4.png" Id="Rfe8d405ecf5f439b" /><Relationship Type="http://schemas.openxmlformats.org/officeDocument/2006/relationships/notesSlide" Target="/ppt/notesSlides/notesSlide2.xml" Id="R2b7edca48d3c45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2a63dc6ac4a86" /><Relationship Type="http://schemas.openxmlformats.org/officeDocument/2006/relationships/image" Target="/ppt/media/image5.png" Id="Rfc4eedc69e3a40c8" /><Relationship Type="http://schemas.openxmlformats.org/officeDocument/2006/relationships/notesSlide" Target="/ppt/notesSlides/notesSlide3.xml" Id="R450e8d420eb0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b39cf629c74541" /><Relationship Type="http://schemas.openxmlformats.org/officeDocument/2006/relationships/image" Target="/ppt/media/image6.png" Id="Ra7762ce91f784f7e" /><Relationship Type="http://schemas.openxmlformats.org/officeDocument/2006/relationships/notesSlide" Target="/ppt/notesSlides/notesSlide4.xml" Id="R88661c0bb0a3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38b8e69a24fce" /><Relationship Type="http://schemas.openxmlformats.org/officeDocument/2006/relationships/image" Target="/ppt/media/image7.png" Id="R0d8b2ef6583647fb" /><Relationship Type="http://schemas.openxmlformats.org/officeDocument/2006/relationships/image" Target="/ppt/media/image8.png" Id="R2f55375ad6ee4e23" /><Relationship Type="http://schemas.openxmlformats.org/officeDocument/2006/relationships/image" Target="/ppt/media/image9.png" Id="R6f4c70adfea84016" /><Relationship Type="http://schemas.openxmlformats.org/officeDocument/2006/relationships/notesSlide" Target="/ppt/notesSlides/notesSlide5.xml" Id="Re47737d5924d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f7607f9c44a45" /><Relationship Type="http://schemas.openxmlformats.org/officeDocument/2006/relationships/image" Target="/ppt/media/image10.png" Id="Re8ea267a3ad74341" /><Relationship Type="http://schemas.openxmlformats.org/officeDocument/2006/relationships/notesSlide" Target="/ppt/notesSlides/notesSlide6.xml" Id="R0dbad4ce561146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a972179e6446d" /><Relationship Type="http://schemas.openxmlformats.org/officeDocument/2006/relationships/image" Target="/ppt/media/image11.png" Id="Rf260bfe8253f40d3" /><Relationship Type="http://schemas.openxmlformats.org/officeDocument/2006/relationships/image" Target="/ppt/media/image12.png" Id="Rf751fe37e4c14669" /><Relationship Type="http://schemas.openxmlformats.org/officeDocument/2006/relationships/image" Target="/ppt/media/image13.png" Id="R9a05d7aab3b443ad" /><Relationship Type="http://schemas.openxmlformats.org/officeDocument/2006/relationships/notesSlide" Target="/ppt/notesSlides/notesSlide7.xml" Id="R7ec5b6e20f1e48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0ababaabe44a9" /><Relationship Type="http://schemas.openxmlformats.org/officeDocument/2006/relationships/image" Target="/ppt/media/image14.png" Id="R40e2c5d02c02458b" /><Relationship Type="http://schemas.openxmlformats.org/officeDocument/2006/relationships/image" Target="/ppt/media/image15.png" Id="R391712e63d574cba" /><Relationship Type="http://schemas.openxmlformats.org/officeDocument/2006/relationships/image" Target="/ppt/media/image16.png" Id="R79032a21248545d0" /><Relationship Type="http://schemas.openxmlformats.org/officeDocument/2006/relationships/notesSlide" Target="/ppt/notesSlides/notesSlide8.xml" Id="Rd4063858104f49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9f64ef12b41e4" /><Relationship Type="http://schemas.openxmlformats.org/officeDocument/2006/relationships/image" Target="/ppt/media/image17.png" Id="R00310efaaecc4891" /><Relationship Type="http://schemas.openxmlformats.org/officeDocument/2006/relationships/notesSlide" Target="/ppt/notesSlides/notesSlide9.xml" Id="R8cc05f0d4dd742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505bdf30b4c46" /><Relationship Type="http://schemas.openxmlformats.org/officeDocument/2006/relationships/image" Target="/ppt/media/image18.png" Id="Rb679b6336df646c8" /><Relationship Type="http://schemas.openxmlformats.org/officeDocument/2006/relationships/notesSlide" Target="/ppt/notesSlides/notesSlide10.xml" Id="R65a411aefdcf4c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84db48b474657" /><Relationship Type="http://schemas.openxmlformats.org/officeDocument/2006/relationships/image" Target="/ppt/media/image19.png" Id="R1156985aa0e2474a" /><Relationship Type="http://schemas.openxmlformats.org/officeDocument/2006/relationships/image" Target="/ppt/media/image20.png" Id="Ra9d97a978f384eaf" /><Relationship Type="http://schemas.openxmlformats.org/officeDocument/2006/relationships/notesSlide" Target="/ppt/notesSlides/notesSlide11.xml" Id="Rd0e33aab8cbb48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783e1b6aa4c8d" /><Relationship Type="http://schemas.openxmlformats.org/officeDocument/2006/relationships/image" Target="/ppt/media/image21.png" Id="R3bb22a9de3d347fc" /><Relationship Type="http://schemas.openxmlformats.org/officeDocument/2006/relationships/notesSlide" Target="/ppt/notesSlides/notesSlide12.xml" Id="R667298b7e6974f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43faa89c34e7b" /><Relationship Type="http://schemas.openxmlformats.org/officeDocument/2006/relationships/image" Target="/ppt/media/image22.png" Id="Rebb0f4c9756c4b05" /><Relationship Type="http://schemas.openxmlformats.org/officeDocument/2006/relationships/notesSlide" Target="/ppt/notesSlides/notesSlide13.xml" Id="R2032f2a3560d44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01b5894fe40eb" /><Relationship Type="http://schemas.openxmlformats.org/officeDocument/2006/relationships/image" Target="/ppt/media/image23.png" Id="R6de6351bbd864923" /><Relationship Type="http://schemas.openxmlformats.org/officeDocument/2006/relationships/notesSlide" Target="/ppt/notesSlides/notesSlide14.xml" Id="R18ca63a6d7f042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0E0B8-659E-4823-BF7E-11D857A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浙江省数智创意竞赛   /   文创产品设计·展陈设计组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531E6-852C-4093-9DA4-ED5316D5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60EEB-0BAD-4D7E-BF61-91A4E20D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47750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350" b="1">
                <a:solidFill>
                  <a:srgbClr val="24231F"/>
                </a:solidFill>
              </a:defRPr>
            </a:defPPr>
            <a:lvl1pPr>
              <a:defRPr sz="10350" b="1">
                <a:solidFill>
                  <a:srgbClr val="24231F"/>
                </a:solidFill>
              </a:defRPr>
            </a:lvl1pPr>
            <a:lvl2pPr>
              <a:defRPr sz="10350" b="1">
                <a:solidFill>
                  <a:srgbClr val="24231F"/>
                </a:solidFill>
              </a:defRPr>
            </a:lvl2pPr>
            <a:lvl3pPr>
              <a:defRPr sz="10350" b="1">
                <a:solidFill>
                  <a:srgbClr val="24231F"/>
                </a:solidFill>
              </a:defRPr>
            </a:lvl3pPr>
            <a:lvl4pPr>
              <a:defRPr sz="10350" b="1">
                <a:solidFill>
                  <a:srgbClr val="24231F"/>
                </a:solidFill>
              </a:defRPr>
            </a:lvl4pPr>
            <a:lvl5pPr>
              <a:defRPr sz="10350" b="1">
                <a:solidFill>
                  <a:srgbClr val="24231F"/>
                </a:solidFill>
              </a:defRPr>
            </a:lvl5pPr>
            <a:lvl6pPr>
              <a:defRPr sz="10350" b="1">
                <a:solidFill>
                  <a:srgbClr val="24231F"/>
                </a:solidFill>
              </a:defRPr>
            </a:lvl6pPr>
            <a:lvl7pPr>
              <a:defRPr sz="10350" b="1">
                <a:solidFill>
                  <a:srgbClr val="24231F"/>
                </a:solidFill>
              </a:defRPr>
            </a:lvl7pPr>
            <a:lvl8pPr>
              <a:defRPr sz="10350" b="1">
                <a:solidFill>
                  <a:srgbClr val="24231F"/>
                </a:solidFill>
              </a:defRPr>
            </a:lvl8pPr>
            <a:lvl9pPr>
              <a:defRPr sz="1035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10350" b="1">
                <a:solidFill>
                  <a:srgbClr val="24231F"/>
                </a:solidFill>
              </a:defRPr>
            </a:pPr>
            <a:r>
              <a:rPr sz="10350" b="1">
                <a:solidFill>
                  <a:srgbClr val="24231F"/>
                </a:solidFill>
              </a:rPr>
              <a:t>义犹未尽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F273-6E1E-493A-83F8-6E0B14D3C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5540be1e3405b"/>
          <a:stretch xmlns:a="http://schemas.openxmlformats.org/drawingml/2006/main"/>
        </p:blipFill>
        <p:spPr>
          <a:xfrm xmlns:a="http://schemas.openxmlformats.org/drawingml/2006/main">
            <a:off x="4305300" y="1809750"/>
            <a:ext cx="777240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02B0F-B431-4487-A0AB-525522B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57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24231F"/>
                </a:solidFill>
              </a:defRPr>
            </a:defPPr>
            <a:lvl1pPr>
              <a:defRPr sz="3525" b="0">
                <a:solidFill>
                  <a:srgbClr val="24231F"/>
                </a:solidFill>
              </a:defRPr>
            </a:lvl1pPr>
            <a:lvl2pPr>
              <a:defRPr sz="3525" b="0">
                <a:solidFill>
                  <a:srgbClr val="24231F"/>
                </a:solidFill>
              </a:defRPr>
            </a:lvl2pPr>
            <a:lvl3pPr>
              <a:defRPr sz="3525" b="0">
                <a:solidFill>
                  <a:srgbClr val="24231F"/>
                </a:solidFill>
              </a:defRPr>
            </a:lvl3pPr>
            <a:lvl4pPr>
              <a:defRPr sz="3525" b="0">
                <a:solidFill>
                  <a:srgbClr val="24231F"/>
                </a:solidFill>
              </a:defRPr>
            </a:lvl4pPr>
            <a:lvl5pPr>
              <a:defRPr sz="3525" b="0">
                <a:solidFill>
                  <a:srgbClr val="24231F"/>
                </a:solidFill>
              </a:defRPr>
            </a:lvl5pPr>
            <a:lvl6pPr>
              <a:defRPr sz="3525" b="0">
                <a:solidFill>
                  <a:srgbClr val="24231F"/>
                </a:solidFill>
              </a:defRPr>
            </a:lvl6pPr>
            <a:lvl7pPr>
              <a:defRPr sz="3525" b="0">
                <a:solidFill>
                  <a:srgbClr val="24231F"/>
                </a:solidFill>
              </a:defRPr>
            </a:lvl7pPr>
            <a:lvl8pPr>
              <a:defRPr sz="3525" b="0">
                <a:solidFill>
                  <a:srgbClr val="24231F"/>
                </a:solidFill>
              </a:defRPr>
            </a:lvl8pPr>
            <a:lvl9pPr>
              <a:defRPr sz="3525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24231F"/>
                </a:solidFill>
              </a:defRPr>
            </a:pPr>
            <a:r>
              <a:rPr sz="3525" b="0">
                <a:solidFill>
                  <a:srgbClr val="24231F"/>
                </a:solidFill>
              </a:rPr>
              <a:t>义乌三时市集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9A6D-B231-4E73-A3D3-AC956BE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5295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4231F"/>
                </a:solidFill>
              </a:defRPr>
            </a:defPPr>
            <a:lvl1pPr>
              <a:defRPr sz="2400" b="0">
                <a:solidFill>
                  <a:srgbClr val="24231F"/>
                </a:solidFill>
              </a:defRPr>
            </a:lvl1pPr>
            <a:lvl2pPr>
              <a:defRPr sz="2400" b="0">
                <a:solidFill>
                  <a:srgbClr val="24231F"/>
                </a:solidFill>
              </a:defRPr>
            </a:lvl2pPr>
            <a:lvl3pPr>
              <a:defRPr sz="2400" b="0">
                <a:solidFill>
                  <a:srgbClr val="24231F"/>
                </a:solidFill>
              </a:defRPr>
            </a:lvl3pPr>
            <a:lvl4pPr>
              <a:defRPr sz="2400" b="0">
                <a:solidFill>
                  <a:srgbClr val="24231F"/>
                </a:solidFill>
              </a:defRPr>
            </a:lvl4pPr>
            <a:lvl5pPr>
              <a:defRPr sz="2400" b="0">
                <a:solidFill>
                  <a:srgbClr val="24231F"/>
                </a:solidFill>
              </a:defRPr>
            </a:lvl5pPr>
            <a:lvl6pPr>
              <a:defRPr sz="2400" b="0">
                <a:solidFill>
                  <a:srgbClr val="24231F"/>
                </a:solidFill>
              </a:defRPr>
            </a:lvl6pPr>
            <a:lvl7pPr>
              <a:defRPr sz="2400" b="0">
                <a:solidFill>
                  <a:srgbClr val="24231F"/>
                </a:solidFill>
              </a:defRPr>
            </a:lvl7pPr>
            <a:lvl8pPr>
              <a:defRPr sz="2400" b="0">
                <a:solidFill>
                  <a:srgbClr val="24231F"/>
                </a:solidFill>
              </a:defRPr>
            </a:lvl8pPr>
            <a:lvl9pPr>
              <a:defRPr sz="24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一日三市</a:t>
            </a:r>
          </a:p>
          <a:p xmlns:a="http://schemas.openxmlformats.org/drawingml/2006/main"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一场可漫游的国潮展陈</a:t>
            </a:r>
          </a:p>
        </p:txBody>
      </p:sp>
    </p:spTree>
    <p:extLst>
      <p:ext uri="{BB962C8B-B14F-4D97-AF65-F5344CB8AC3E}">
        <p14:creationId xmlns:p14="http://schemas.microsoft.com/office/powerpoint/2010/main" val="2106958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0459-000E-4D83-8ECB-360A467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02   /   作品概览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FA003-760F-4C6D-8DB8-44114CC7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8BD7E-47BD-4CCD-B1A6-67E306C9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可进入的国潮市集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0F7D9-8A32-413D-B04F-545D026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以三维漫游串联义乌小商品与一日市井生活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EB08B-25AE-492E-B48F-4B0CF38A2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dad284b54d73"/>
          <a:stretch xmlns:a="http://schemas.openxmlformats.org/drawingml/2006/main"/>
        </p:blipFill>
        <p:spPr>
          <a:xfrm xmlns:a="http://schemas.openxmlformats.org/drawingml/2006/main">
            <a:off x="0" y="2717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6DDCA-7096-4513-BB8A-B9CC390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早市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9DCB3-7D99-4ED7-9D27-45FF74B9B2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49dadb4af40aa"/>
          <a:stretch xmlns:a="http://schemas.openxmlformats.org/drawingml/2006/main"/>
        </p:blipFill>
        <p:spPr>
          <a:xfrm xmlns:a="http://schemas.openxmlformats.org/drawingml/2006/main">
            <a:off x="3924300" y="2717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FBEFD-3692-49F2-AAF6-5D91197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476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午市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B5DC-6D88-46AA-947A-C99BA3E1B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d405ecf5f439b"/>
          <a:stretch xmlns:a="http://schemas.openxmlformats.org/drawingml/2006/main"/>
        </p:blipFill>
        <p:spPr>
          <a:xfrm xmlns:a="http://schemas.openxmlformats.org/drawingml/2006/main">
            <a:off x="7848600" y="2717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789D2-5F11-41CD-A94C-CA6801A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76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夜市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25A63-A08B-42A8-A1AD-8BBE25A0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48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3 个时段    9 处摊位    13 件展品</a:t>
            </a:r>
          </a:p>
        </p:txBody>
      </p:sp>
    </p:spTree>
    <p:extLst>
      <p:ext uri="{BB962C8B-B14F-4D97-AF65-F5344CB8AC3E}">
        <p14:creationId xmlns:p14="http://schemas.microsoft.com/office/powerpoint/2010/main" val="1222388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233D-31AC-43D3-AFA0-4F977EC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03   /   命题理解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CB5A-7FFA-4590-992A-F694690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0C25-3480-4F78-AF19-F7CE490E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75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小商品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EBA6B-76E5-4858-94FA-13D870A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9825"/>
            <a:ext cx="666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7500" b="1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国潮语境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F53A9-EF7D-41AF-A57F-1EA6BC93A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eedc69e3a40c8"/>
          <a:stretch xmlns:a="http://schemas.openxmlformats.org/drawingml/2006/main"/>
        </p:blipFill>
        <p:spPr>
          <a:xfrm xmlns:a="http://schemas.openxmlformats.org/drawingml/2006/main">
            <a:off x="7048500" y="1238250"/>
            <a:ext cx="428625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4CB7-ADC5-403D-9814-8E032760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商品成为展品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DDA2C-1159-4A84-A0A0-9EC4455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街巷成为展厅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C77BF-7ACE-490C-9228-4CD2EF3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97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逛摊成为观展</a:t>
            </a:r>
          </a:p>
        </p:txBody>
      </p:sp>
    </p:spTree>
    <p:extLst>
      <p:ext uri="{BB962C8B-B14F-4D97-AF65-F5344CB8AC3E}">
        <p14:creationId xmlns:p14="http://schemas.microsoft.com/office/powerpoint/2010/main" val="46534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A6B7E-9BCC-49B6-9686-462614F7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04   /   设计灵感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3A689-427C-4398-AF5B-95F8C879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0C183-195E-4C2C-9A7C-14059DDE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元素，如何成为设计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49657-918E-4B47-8E20-EB26EB3E3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62ce91f784f7e"/>
          <a:stretch xmlns:a="http://schemas.openxmlformats.org/drawingml/2006/main"/>
        </p:blipFill>
        <p:spPr>
          <a:xfrm xmlns:a="http://schemas.openxmlformats.org/drawingml/2006/main">
            <a:off x="6955155" y="2571750"/>
            <a:ext cx="4663440" cy="2914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D662D-EC15-4E7B-894C-21E6B8A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街巷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24AF-19B4-47EC-A347-CBE103D0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57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可漫游的路径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A4922-0360-4E82-9904-57DA2DF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布幌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454F2-6AAD-440B-888F-A45B1D20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052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摊位识别与导视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95BCB-28FC-4017-A3EA-6D60992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6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器物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663C4-04AE-4C85-BFB3-12B54C7C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529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近景观看与陈列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95C5B-88E9-4232-902E-8CBA44A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91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从现有资产提取市井视觉线索</a:t>
            </a:r>
          </a:p>
        </p:txBody>
      </p:sp>
    </p:spTree>
    <p:extLst>
      <p:ext uri="{BB962C8B-B14F-4D97-AF65-F5344CB8AC3E}">
        <p14:creationId xmlns:p14="http://schemas.microsoft.com/office/powerpoint/2010/main" val="153728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3D4B4-699C-4757-927B-2D1138F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05   /   核心概念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7B18B-040E-47B6-A4F6-D0982762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B5B2-AA8A-47FB-A576-2C6437DB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以时间，组织展陈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51DF5-57F6-4D9E-A54B-85DD6A476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b2ef6583647fb"/>
          <a:stretch xmlns:a="http://schemas.openxmlformats.org/drawingml/2006/main"/>
        </p:blipFill>
        <p:spPr>
          <a:xfrm xmlns:a="http://schemas.openxmlformats.org/drawingml/2006/main">
            <a:off x="0" y="2288977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1CC2-7B9B-4F08-AD66-6E21DCF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早 · 生活开场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5A6F8-01D3-4877-A63B-4C554015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10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茶水 / 早餐 / 木铃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D9932-74D6-469F-8CB1-18F2A5C73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375ad6ee4e23"/>
          <a:stretch xmlns:a="http://schemas.openxmlformats.org/drawingml/2006/main"/>
        </p:blipFill>
        <p:spPr>
          <a:xfrm xmlns:a="http://schemas.openxmlformats.org/drawingml/2006/main">
            <a:off x="3924300" y="2288977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CEBC-D228-4A64-9E61-94317C5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午 · 好物探索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9FCE6-2429-4CA8-BA5F-85C2A13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10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扇子 / 杂货 / 香囊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064B7-4EE5-490F-B726-7AD9BCD8EA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70adfea84016"/>
          <a:stretch xmlns:a="http://schemas.openxmlformats.org/drawingml/2006/main"/>
        </p:blipFill>
        <p:spPr>
          <a:xfrm xmlns:a="http://schemas.openxmlformats.org/drawingml/2006/main">
            <a:off x="7848600" y="2288977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8D1A7-EB5A-4408-8E7C-389AF74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夜 · 灯下赏物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11282-B836-43A4-B2AA-C0EE4297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10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古董 / 花灯 / 酿酒</a:t>
            </a:r>
          </a:p>
        </p:txBody>
      </p:sp>
    </p:spTree>
    <p:extLst>
      <p:ext uri="{BB962C8B-B14F-4D97-AF65-F5344CB8AC3E}">
        <p14:creationId xmlns:p14="http://schemas.microsoft.com/office/powerpoint/2010/main" val="1871664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7AC2E-6927-47ED-8CA3-DD405B06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06   /   空间布局与动线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4FB0-7D65-4E30-8E2B-CA1EE72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8283B-FE27-4482-B704-71437BA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分区清楚，自由探索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0A97-7AD3-4A54-888D-447D306AB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a267a3ad74341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2238375"/>
            <a:ext cx="60960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E8844-0262-4C82-BE3A-2D0D3D3D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717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总览选时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6F9D-ECCF-4682-A42A-E352F294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289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进入街巷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4C807-C266-4A37-8647-30E0E80C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862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靠近摊位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801EC-BF41-48B1-8E94-4C02E214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434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细看后返回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B76D6-EDCB-45D9-BA48-B442DB6C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三时分区    每区三摊    原路返回漫游</a:t>
            </a:r>
          </a:p>
        </p:txBody>
      </p:sp>
    </p:spTree>
    <p:extLst>
      <p:ext uri="{BB962C8B-B14F-4D97-AF65-F5344CB8AC3E}">
        <p14:creationId xmlns:p14="http://schemas.microsoft.com/office/powerpoint/2010/main" val="531171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6B7C-8760-45C6-85AA-D0AD14C1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rPr>
              <a:t>07   /   三时场景与灯光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50DC4-D71B-4965-81CF-2CAC662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980F3-43A8-41FF-B31F-6CC5F83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三时，三种光景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C5A1D-F75C-4E06-AA42-9BA7B2A2C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0bfe8253f40d3"/>
          <a:stretch xmlns:a="http://schemas.openxmlformats.org/drawingml/2006/main"/>
        </p:blipFill>
        <p:spPr>
          <a:xfrm xmlns:a="http://schemas.openxmlformats.org/drawingml/2006/main">
            <a:off x="0" y="2336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0D2D0-40BA-4EAD-A8E1-BDE0E7E9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rPr>
              <a:t>早市 · 柔光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AD242-1714-4916-B66D-80A1C668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茶点与日常器物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23365-5ACE-44A5-9D7E-BBEF3DBA6A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1fe37e4c14669"/>
          <a:stretch xmlns:a="http://schemas.openxmlformats.org/drawingml/2006/main"/>
        </p:blipFill>
        <p:spPr>
          <a:xfrm xmlns:a="http://schemas.openxmlformats.org/drawingml/2006/main">
            <a:off x="3924300" y="2336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93556-FFEA-4C0D-9CDA-4B0BF67F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rPr>
              <a:t>午市 · 明亮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688FD-868C-410E-84B0-176C812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摊铺与商品探索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95A44-FDB0-4541-B0F5-6F51635DC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5d7aab3b443ad"/>
          <a:stretch xmlns:a="http://schemas.openxmlformats.org/drawingml/2006/main"/>
        </p:blipFill>
        <p:spPr>
          <a:xfrm xmlns:a="http://schemas.openxmlformats.org/drawingml/2006/main">
            <a:off x="7848600" y="2336602"/>
            <a:ext cx="4333875" cy="270867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484F6-A2C2-44A0-87EE-E6BE329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E7A45D"/>
                </a:solidFill>
                <a:latin typeface="PingFang SC"/>
                <a:ea typeface="PingFang SC"/>
                <a:cs typeface="PingFang SC"/>
              </a:rPr>
              <a:t>夜市 · 冷暖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6B41C-280B-47F3-BE78-2B0ED81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灯火与特色器物</a:t>
            </a:r>
          </a:p>
        </p:txBody>
      </p:sp>
    </p:spTree>
    <p:extLst>
      <p:ext uri="{BB962C8B-B14F-4D97-AF65-F5344CB8AC3E}">
        <p14:creationId xmlns:p14="http://schemas.microsoft.com/office/powerpoint/2010/main" val="1477370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099BD-9BC5-44E7-90FF-7268F99F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08   /   展品与文化表达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7CBE7-D283-4284-B85C-594034DF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7156C-FB42-40A3-92B3-4B9E23B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器物，回到生活里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DD8A7-F260-40D3-8C17-C18108C3F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2c5d02c02458b"/>
          <a:stretch xmlns:a="http://schemas.openxmlformats.org/drawingml/2006/main"/>
        </p:blipFill>
        <p:spPr>
          <a:xfrm xmlns:a="http://schemas.openxmlformats.org/drawingml/2006/main">
            <a:off x="500063" y="2333625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872FE-5B46-4329-B993-4A4A3AFD6E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712e63d574cba"/>
          <a:stretch xmlns:a="http://schemas.openxmlformats.org/drawingml/2006/main"/>
        </p:blipFill>
        <p:spPr>
          <a:xfrm xmlns:a="http://schemas.openxmlformats.org/drawingml/2006/main">
            <a:off x="4424363" y="2333625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24A5-AD2F-4565-A7F8-9A87B2DA0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32a21248545d0"/>
          <a:stretch xmlns:a="http://schemas.openxmlformats.org/drawingml/2006/main"/>
        </p:blipFill>
        <p:spPr>
          <a:xfrm xmlns:a="http://schemas.openxmlformats.org/drawingml/2006/main">
            <a:off x="8348663" y="2333625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DAB0C-5AF5-49AC-91C0-E184F967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0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茶器 / 茶水摊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EA131-2637-4497-AAD1-876DEC9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饮茶场景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C9E6D-AB25-4F9D-8158-5E8E3F5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10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扇子 / 扇子摊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5CAE4-C11B-48D1-90B9-911E610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19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纳凉与装饰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3CC74-4A3D-424D-B026-7D1BDD6A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410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时钟 / 古董摊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A4C98-EBE2-4136-8197-3222A5BA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器物陈列</a:t>
            </a:r>
          </a:p>
        </p:txBody>
      </p:sp>
    </p:spTree>
    <p:extLst>
      <p:ext uri="{BB962C8B-B14F-4D97-AF65-F5344CB8AC3E}">
        <p14:creationId xmlns:p14="http://schemas.microsoft.com/office/powerpoint/2010/main" val="1761132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F6102-6854-4418-81C6-3408F159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09   /   观展交互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8C940-67D4-40A1-A7BA-C9F6A542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1FC1-2C75-4005-B138-AC43E437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645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逛，停，看，回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8813D-08DB-4D66-A914-A8B67F6C7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10efaaecc4891"/>
          <a:srcRect xmlns:a="http://schemas.openxmlformats.org/drawingml/2006/main" l="0" t="12846" r="0" b="12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" y="2209800"/>
            <a:ext cx="7429500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AC07-89E1-4DED-BC97-55B3E72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漫游入摊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0A861-FC6B-4531-A847-6EC5C91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镜头靠近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0C6B8-38D6-4B24-93AA-8F535F72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481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旋转细看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BC14C-E461-461B-8644-234EEB7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339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退出续逛</a:t>
            </a:r>
          </a:p>
        </p:txBody>
      </p:sp>
    </p:spTree>
    <p:extLst>
      <p:ext uri="{BB962C8B-B14F-4D97-AF65-F5344CB8AC3E}">
        <p14:creationId xmlns:p14="http://schemas.microsoft.com/office/powerpoint/2010/main" val="910277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B9EE-639E-4E4D-A6A9-9ECF375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10   /   网页与视觉细节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7A4D9-2CEC-4EDE-A111-0BA03D6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02F7D-F312-4A88-A2FB-2266B5FD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细节，让操作自然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BB93C-3669-4C12-8BA6-35DB41FB2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9b6336df646c8"/>
          <a:stretch xmlns:a="http://schemas.openxmlformats.org/drawingml/2006/main"/>
        </p:blipFill>
        <p:spPr>
          <a:xfrm xmlns:a="http://schemas.openxmlformats.org/drawingml/2006/main">
            <a:off x="7239000" y="18097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7C214-E58A-4A2C-9F4C-321179C9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479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镜头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57831-1CD2-4B5C-AB61-EF3CD9EF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622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平滑靠近，保留空间关系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0BF9C-055E-4296-AE67-D795B7E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051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字体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C3410-9B8A-405D-99DB-D3164C7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194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宋楷气质，清晰层级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396F-94A0-4240-BDD3-E40813EF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624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配色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FA014-F759-4809-B0D6-071B00C9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767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纸白、墨色与朱红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A8E59-E0B1-468E-B41E-19AD4BC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96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17EC1-F4BE-413C-96BE-AB819C0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339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入摊回应，关闭后返回</a:t>
            </a:r>
          </a:p>
        </p:txBody>
      </p:sp>
    </p:spTree>
    <p:extLst>
      <p:ext uri="{BB962C8B-B14F-4D97-AF65-F5344CB8AC3E}">
        <p14:creationId xmlns:p14="http://schemas.microsoft.com/office/powerpoint/2010/main" val="319893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F519B-B2AF-4856-A5A0-05FCDEF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11   /   设计制作流程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3D8E0-F572-49DB-9CB9-4AADB1A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8FD6-9B3B-49A3-BC74-48359E92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构形，赋色，进入网页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489EA-6E34-438B-96F5-D40D37C76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6985aa0e2474a"/>
          <a:stretch xmlns:a="http://schemas.openxmlformats.org/drawingml/2006/main"/>
        </p:blipFill>
        <p:spPr>
          <a:xfrm xmlns:a="http://schemas.openxmlformats.org/drawingml/2006/main">
            <a:off x="657225" y="2047875"/>
            <a:ext cx="4400550" cy="3143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FAC2-6B89-4BE8-8E23-38036DE3D4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97a978f384eaf"/>
          <a:stretch xmlns:a="http://schemas.openxmlformats.org/drawingml/2006/main"/>
        </p:blipFill>
        <p:spPr>
          <a:xfrm xmlns:a="http://schemas.openxmlformats.org/drawingml/2006/main">
            <a:off x="6391275" y="2047875"/>
            <a:ext cx="50292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16742-E8D6-4B8A-8DD6-3991733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8476B-D83F-44FE-99FA-23DE9F9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34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材质与灯光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26CE9-1FA6-4D27-865E-28D53DA3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现有模型去材质示意，非历史白模截图</a:t>
            </a:r>
          </a:p>
        </p:txBody>
      </p:sp>
    </p:spTree>
    <p:extLst>
      <p:ext uri="{BB962C8B-B14F-4D97-AF65-F5344CB8AC3E}">
        <p14:creationId xmlns:p14="http://schemas.microsoft.com/office/powerpoint/2010/main" val="1677241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EBF5E-51C3-4527-BEB7-AF38619D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12   /   素材与关键迭代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B2085-C44E-47C4-8073-315FED69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BCE30-D86E-42CF-B661-3A5A173E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AI 生成，交互落地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8CA7C-30CD-4120-AC3C-0967F45EF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22a9de3d347fc"/>
          <a:stretch xmlns:a="http://schemas.openxmlformats.org/drawingml/2006/main"/>
        </p:blipFill>
        <p:spPr>
          <a:xfrm xmlns:a="http://schemas.openxmlformats.org/drawingml/2006/main">
            <a:off x="8048625" y="22860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FBD62-B6E1-430A-A706-7B894811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90775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defRPr>
            </a:pPr>
            <a:r>
              <a:rPr sz="3900" b="0">
                <a:solidFill>
                  <a:srgbClr val="AE3D2E"/>
                </a:solidFill>
                <a:latin typeface="PingFang SC"/>
                <a:ea typeface="PingFang SC"/>
                <a:cs typeface="PingFang SC"/>
              </a:rPr>
              <a:t>Tripo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F4225-A3B0-4CF3-B03C-1768EB8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商品与人物模型生成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F0B8-3F5F-4CE2-9700-B0D6020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镜头遮挡 / 窄屏布局 / 返回逻辑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858E0-FDAA-4169-8B2E-D2D8E04A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defRPr>
            </a:pPr>
            <a:r>
              <a:rPr sz="3450" b="0">
                <a:solidFill>
                  <a:srgbClr val="24231F"/>
                </a:solidFill>
                <a:latin typeface="PingFang SC"/>
                <a:ea typeface="PingFang SC"/>
                <a:cs typeface="PingFang SC"/>
              </a:rPr>
              <a:t>关键迭代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2AA97-EF61-4C1F-A055-5AEEF5A6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86F61"/>
                </a:solidFill>
                <a:latin typeface="PingFang SC"/>
                <a:ea typeface="PingFang SC"/>
                <a:cs typeface="PingFang SC"/>
              </a:rPr>
              <a:t>场景来源与人工修改范围待补充确认</a:t>
            </a:r>
          </a:p>
        </p:txBody>
      </p:sp>
    </p:spTree>
    <p:extLst>
      <p:ext uri="{BB962C8B-B14F-4D97-AF65-F5344CB8AC3E}">
        <p14:creationId xmlns:p14="http://schemas.microsoft.com/office/powerpoint/2010/main" val="2136365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5E6F1-9A71-44C7-BF67-26D4C028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C6A7"/>
                </a:solidFill>
                <a:latin typeface="PingFang SC"/>
                <a:ea typeface="PingFang SC"/>
                <a:cs typeface="PingFang SC"/>
              </a:rPr>
              <a:t>13   /   创新点与落地可行性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E1609-D619-4E58-B8E1-DF51794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C6A7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8818-9AC2-4163-B186-8792E8D0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创意，有实现支撑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46CA4-F93F-45B3-B398-F0F960D366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0f4c9756c4b05"/>
          <a:stretch xmlns:a="http://schemas.openxmlformats.org/drawingml/2006/main"/>
        </p:blipFill>
        <p:spPr>
          <a:xfrm xmlns:a="http://schemas.openxmlformats.org/drawingml/2006/main">
            <a:off x="6477000" y="2097881"/>
            <a:ext cx="5143500" cy="321468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DAD77-31D7-4593-8614-7EB7AB33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rPr>
              <a:t>三时叙事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DB8C2-E83B-4A28-8930-6DEDF95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242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三个可进入市集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F5BDC-82B5-4429-A56F-45F1878E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43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E7A45D"/>
                </a:solidFill>
                <a:latin typeface="PingFang SC"/>
                <a:ea typeface="PingFang SC"/>
                <a:cs typeface="PingFang SC"/>
              </a:rPr>
              <a:t>逐层观展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7007C-E7EE-4C3A-B9D9-2261822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2EBDD"/>
                </a:solidFill>
                <a:latin typeface="PingFang SC"/>
                <a:ea typeface="PingFang SC"/>
                <a:cs typeface="PingFang SC"/>
              </a:rPr>
              <a:t>漫游、摊位与商品预览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DB754-78B2-4AD4-8FBE-0F38168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8C6A7"/>
                </a:solidFill>
                <a:latin typeface="PingFang SC"/>
                <a:ea typeface="PingFang SC"/>
                <a:cs typeface="PingFang SC"/>
              </a:rPr>
              <a:t>已有发布记录    /    展会触屏应用待适配</a:t>
            </a:r>
          </a:p>
        </p:txBody>
      </p:sp>
    </p:spTree>
    <p:extLst>
      <p:ext uri="{BB962C8B-B14F-4D97-AF65-F5344CB8AC3E}">
        <p14:creationId xmlns:p14="http://schemas.microsoft.com/office/powerpoint/2010/main" val="3977648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DCAF-D1C3-478B-AF51-530AE60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义犹未尽   /   义乌三时市集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11DD-5ADD-4C68-82D5-B6EAF45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563D9-85F1-4223-BF40-FB3FE29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0" b="1">
                <a:solidFill>
                  <a:srgbClr val="24231F"/>
                </a:solidFill>
              </a:defRPr>
            </a:defPPr>
            <a:lvl1pPr>
              <a:defRPr sz="9000" b="1">
                <a:solidFill>
                  <a:srgbClr val="24231F"/>
                </a:solidFill>
              </a:defRPr>
            </a:lvl1pPr>
            <a:lvl2pPr>
              <a:defRPr sz="9000" b="1">
                <a:solidFill>
                  <a:srgbClr val="24231F"/>
                </a:solidFill>
              </a:defRPr>
            </a:lvl2pPr>
            <a:lvl3pPr>
              <a:defRPr sz="9000" b="1">
                <a:solidFill>
                  <a:srgbClr val="24231F"/>
                </a:solidFill>
              </a:defRPr>
            </a:lvl3pPr>
            <a:lvl4pPr>
              <a:defRPr sz="9000" b="1">
                <a:solidFill>
                  <a:srgbClr val="24231F"/>
                </a:solidFill>
              </a:defRPr>
            </a:lvl4pPr>
            <a:lvl5pPr>
              <a:defRPr sz="9000" b="1">
                <a:solidFill>
                  <a:srgbClr val="24231F"/>
                </a:solidFill>
              </a:defRPr>
            </a:lvl5pPr>
            <a:lvl6pPr>
              <a:defRPr sz="9000" b="1">
                <a:solidFill>
                  <a:srgbClr val="24231F"/>
                </a:solidFill>
              </a:defRPr>
            </a:lvl6pPr>
            <a:lvl7pPr>
              <a:defRPr sz="9000" b="1">
                <a:solidFill>
                  <a:srgbClr val="24231F"/>
                </a:solidFill>
              </a:defRPr>
            </a:lvl7pPr>
            <a:lvl8pPr>
              <a:defRPr sz="9000" b="1">
                <a:solidFill>
                  <a:srgbClr val="24231F"/>
                </a:solidFill>
              </a:defRPr>
            </a:lvl8pPr>
            <a:lvl9pPr>
              <a:defRPr sz="90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24231F"/>
                </a:solidFill>
              </a:defRPr>
            </a:pPr>
            <a:r>
              <a:rPr sz="9000" b="1">
                <a:solidFill>
                  <a:srgbClr val="24231F"/>
                </a:solidFill>
              </a:rPr>
              <a:t>一日三市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54B8-CF0C-44FD-AC47-E99DECD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0" b="1">
                <a:solidFill>
                  <a:srgbClr val="AE3D2E"/>
                </a:solidFill>
              </a:defRPr>
            </a:defPPr>
            <a:lvl1pPr>
              <a:defRPr sz="9000" b="1">
                <a:solidFill>
                  <a:srgbClr val="AE3D2E"/>
                </a:solidFill>
              </a:defRPr>
            </a:lvl1pPr>
            <a:lvl2pPr>
              <a:defRPr sz="9000" b="1">
                <a:solidFill>
                  <a:srgbClr val="AE3D2E"/>
                </a:solidFill>
              </a:defRPr>
            </a:lvl2pPr>
            <a:lvl3pPr>
              <a:defRPr sz="9000" b="1">
                <a:solidFill>
                  <a:srgbClr val="AE3D2E"/>
                </a:solidFill>
              </a:defRPr>
            </a:lvl3pPr>
            <a:lvl4pPr>
              <a:defRPr sz="9000" b="1">
                <a:solidFill>
                  <a:srgbClr val="AE3D2E"/>
                </a:solidFill>
              </a:defRPr>
            </a:lvl4pPr>
            <a:lvl5pPr>
              <a:defRPr sz="9000" b="1">
                <a:solidFill>
                  <a:srgbClr val="AE3D2E"/>
                </a:solidFill>
              </a:defRPr>
            </a:lvl5pPr>
            <a:lvl6pPr>
              <a:defRPr sz="9000" b="1">
                <a:solidFill>
                  <a:srgbClr val="AE3D2E"/>
                </a:solidFill>
              </a:defRPr>
            </a:lvl6pPr>
            <a:lvl7pPr>
              <a:defRPr sz="9000" b="1">
                <a:solidFill>
                  <a:srgbClr val="AE3D2E"/>
                </a:solidFill>
              </a:defRPr>
            </a:lvl7pPr>
            <a:lvl8pPr>
              <a:defRPr sz="9000" b="1">
                <a:solidFill>
                  <a:srgbClr val="AE3D2E"/>
                </a:solidFill>
              </a:defRPr>
            </a:lvl8pPr>
            <a:lvl9pPr>
              <a:defRPr sz="90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AE3D2E"/>
                </a:solidFill>
              </a:defRPr>
            </a:pPr>
            <a:r>
              <a:rPr sz="9000" b="1">
                <a:solidFill>
                  <a:srgbClr val="AE3D2E"/>
                </a:solidFill>
              </a:rPr>
              <a:t>义犹未尽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1841-6D67-40A1-9F6E-064073CF6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6351bbd864923"/>
          <a:stretch xmlns:a="http://schemas.openxmlformats.org/drawingml/2006/main"/>
        </p:blipFill>
        <p:spPr>
          <a:xfrm xmlns:a="http://schemas.openxmlformats.org/drawingml/2006/main">
            <a:off x="6429375" y="3162300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9A481-8B88-4B03-B47C-736FA54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578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468155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2026-10-28T05:20:16.7900000Z</dcterms:created>
  <dcterms:modified xsi:type="dcterms:W3CDTF">2026-10-28T05:20:16.7900000Z</dcterms:modified>
</coreProperties>
</file>